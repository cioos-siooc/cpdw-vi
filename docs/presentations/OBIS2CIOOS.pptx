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Quick orientation. This is a fifteen-minute talk on how OBIS — the global marine biodiversity database — now flows into CIOOS. Specifically into our metadata catalogue powered by CKAN and into the CIOOS Data Explorer. We'll spend the second half — about forty-five minutes — in notebooks pulling OBIS data four different ways. By the end of the talk you'll know what the integration looks like, what users get out of it, and how the pipelines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to the talk. First, what we built — context on OBIS, then what the integration looks like from a user's seat. Second, how it works — the two pipelines that move data from OBIS into CIOOS, and the EOV-derivation logic that took longest to get right. Third, status, lessons, and where this goes next. Then we open the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what we built. Two pieces of context, then the punchline, then a tour of what an end user actually sees in the catalogue and the Data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OBIS — Ocean Biodiversity Information System. IOC-UNESCO programme; the marine GBIF. Around a hundred and thirty million Darwin-Core occurrence records, fed by thirty-plus regional and thematic nodes including OBIS-Canada. Three things to internalize. The catalogue is fully public — no auth, no token. Every dataset has a stable UUID; that UUID is the only key our pipelines need. And while GBIF gives CKAN a terrestrial biodiversity feed, OBIS is its marine equivalent for Canadian waters — that's the gap we're filling.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As of this release, OBIS biodiversity datasets are first-class citizens in both halves of CIOOS. They're discoverable as proper ISO-19115 records in the CKAN catalogue. And they're explorable on the Data Explorer with the same filters, sorts, and downloads as our ERDDAP datasets. Metadata flows one way: OBIS to CKAN at harvest time. Occurrence data flows the other way at run time: OBIS to the Data Explorer. And there's a feedback link — CKAN's curated EOV list flows back into the occurrence harvester to keep the two views consistent. Critical principle: downloads on CDE link out to the OBIS dataset page. We surface, we don't rehost.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surfaces, one story. On the left: in the CKAN catalogue, an OBIS dataset looks like any other CIOOS record. Title, abstract, license, contacts, spatial extent, the curated EOV list, and an inferred platform. Download takes you back to OBIS. On the right: in the Data Explorer, occurrences render as gridded points on the map and you get three new filter axes — filter by scientific name, like Calanus finmarchicus; filter by vernacular name, like northern krill; and sort by EOV like every other CDE dataset. Same UX, new dataset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how it works. Two pipelines, an architecture page to anchor them, then a slide each on the CKAN side, the EOV-derivation logic, and the CDE side. Five minutes;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system on one page. Left column — three OBIS endpoints we use, plus the per-dataset Parquet files on S3. Middle column — our two pipelines. The top pipeline, OBISHarvester, pulls occurrence rows for the Data Explorer; the bottom pipeline, load_from.obis, pulls dataset payloads and maps them to CIOOS metadata for CKAN. Right column — the two CIOOS surfaces the user sees. Dashed feedback line at the bottom: CKAN's curated EOVs and French titles loop back into the harvester so the two views stay aligned. Two outbound arrows from the user-facing column show downloads going back to OBIS rather than to a local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CKAN side, in detail. load_from.obis is a function in cioos-metadata-conversion. Input: an OBIS dataset payload as JSON. Output: a CIOOS-shaped dictionary that the metadata-xml tool turns into ISO 19115-3, and CKAN ingests. Most fields are straight mappings — title, abstract, license, keywords; the extent comes from OBIS's POLYGON WKT. The two interesting derivations are EOVs — which I'll cover separately on the next slide — and platform inference, which reads the samplingProtocol free-text from a sample of occurrences and matches it against the CIOOS platform vocabulary. We cover moorings, vessels, gliders, AUVs, ROVs, divers, satellites, coastal structures; we emit conservatively and noPlatform when nothing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EOV derivation. This is the part that took the longest to get right. Two independent signals. Signal one — taxonomy. We call the OBIS facet endpoint for the dataset's class breakdown and map each class to an EOV using a hand-curated table of about two hundred and forty marine classes. Copepods become zooplankton. Diatoms become phytoplankton. Magnoliopsida becomes seagrass. Signal two — eMoF measurements. We sample occurrences with mof=true, read the P01 code from each measurementTypeID, and map to EOV using a parameter table — plus an English-French free-text fallback for older records. Both signals are noisy, so four gates clean them up. Cover EOVs need five percent of records — a stray Anthozoa shouldn't flag hardCoralCoverAndComposition. Zooplankton needs core planktonic classes clearing five percent — gelatinous bycatch alone isn't enough. Invertebrate only fires alongside zooplankton when a benthic-indicator class is present. And inorganic-carbon needs alkalinity, DIC, or pCO2 — a lone pH doesn't earn the EOV. After all the gating, we union the two signals and that's what goes into the CKAN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CDE side. OBISHarvester is the entry point — it processes a configurable list of dataset UUIDs and emits the per-cell rows the Data Explorer database wants. Primary path: per-dataset Parquet on S3, queried in place with DuckDB. If Parquet four-oh-fours we fall back to the REST API with cursor pagination. Records get filtered to Canadian waters by the ObisGeoFilter — but OBIS-Canada and OTN datasets are exempt and pass through unfiltered, because they're already curated for Canadian relevance. We snap to a one-twelfth-degree grid — roughly five nautical miles — so the map isn't trying to render a hundred million points. Finally _enrich_with_ckan joins the dataset rows against the CKAN catalogue for French titles and the curated EOVs we built upstream. That's the feedback edge from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gets us in the Data Explorer. Here's a real screenshot — someone searching for gulls. Three things to notice. First, the search resolved gulls to Laridae through WoRMS, so users don't have to know the Latin. Either direction works — type the vernacular or the scientific name. Second, and this is the big one: the filter does a taxonomic rollup. Picking Laridae at the family level returns every record below it — every genus, every species, herring gulls, kittiwakes, the whole thing. That's why the map lights up the way it does. Users don't have to enumerate species; they can search at whatever taxonomic level matches their question. Third, the top filter bar has new pills — OBIS Nodes, an OBIS data-source toggle, Scientific Name — sitting alongside the existing Ocean Variables, Platforms, Organizations. Same hex symbology as ERDDAP, same EOV and org sort across both sources. And downloads link out to OBIS.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section, briefly. Six gotchas worth knowing, then status and where this goes, then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lessons. The first three burn newcomers — the OBIS REST cursor uses after, not start; the Parquet schema nests under interpreted-dot-something, so always unwrap; and EOV gating thresholds matter — without them terrestrial fungi get tagged as marine microbe EOV and lone pH gets flagged as inorganic carbon. The next three burn us internally — some private and embargoed datasets are API-only so always keep the REST fallback live; Parquet exports lag the live API by hours to days, so don't use Parquet for anything time-critical; and platform inference is text-matched against samplingProtocol so it occasionally produces noise — we emit conservatively and noPlatform when nothing matches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next. The integration is shipping for the OBIS datasets in our current CDE harvest config — Maritimes RV survey, OBIS-Canada's core datasets, OTN biotelemetry, and a starter set from EurOBIS. Next milestones: expand the dataset list, add a CKAN bulk-update job so the catalogue stays fresh, and use the OBIS API's change-detection to trigger re-harvest when upstream changes. That brings us to the second half of the session — four short notebooks, one per OBIS retrieval route, all running against the same dataset. Open the first one — pyobis quickstart — and we'll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I'll be around for the notebook session and after. If you're building a new OBIS consumer at CIOOS in the next few weeks please loop me in before you start — there's a good chance one of these pipelines covers what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0EC"/>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53A89B">
              <a:alpha val="20000"/>
            </a:srgbClr>
          </a:solidFill>
          <a:ln/>
        </p:spPr>
      </p:sp>
      <p:pic>
        <p:nvPicPr>
          <p:cNvPr id="3" name="Image 0" descr="preencoded.png">    </p:cNvPr>
          <p:cNvPicPr>
            <a:picLocks noChangeAspect="1"/>
          </p:cNvPicPr>
          <p:nvPr/>
        </p:nvPicPr>
        <p:blipFill>
          <a:blip r:embed="rId1"/>
          <a:stretch>
            <a:fillRect/>
          </a:stretch>
        </p:blipFill>
        <p:spPr>
          <a:xfrm>
            <a:off x="1047750" y="914400"/>
            <a:ext cx="609600" cy="609600"/>
          </a:xfrm>
          <a:prstGeom prst="rect">
            <a:avLst/>
          </a:prstGeom>
        </p:spPr>
      </p:pic>
      <p:sp>
        <p:nvSpPr>
          <p:cNvPr id="4" name="Text 1"/>
          <p:cNvSpPr/>
          <p:nvPr/>
        </p:nvSpPr>
        <p:spPr>
          <a:xfrm>
            <a:off x="1828800" y="1081088"/>
            <a:ext cx="1087636" cy="314325"/>
          </a:xfrm>
          <a:prstGeom prst="rect">
            <a:avLst/>
          </a:prstGeom>
          <a:noFill/>
          <a:ln/>
        </p:spPr>
        <p:txBody>
          <a:bodyPr wrap="square" lIns="0" tIns="0" rIns="0" bIns="0" rtlCol="0" anchor="t">
            <a:normAutofit/>
          </a:bodyPr>
          <a:lstStyle/>
          <a:p>
            <a:pPr algn="l" indent="0" marL="0">
              <a:buNone/>
            </a:pPr>
            <a:r>
              <a:rPr lang="en-US" sz="1800" spc="396" kern="0" dirty="0">
                <a:solidFill>
                  <a:srgbClr val="152F37"/>
                </a:solidFill>
                <a:latin typeface="Arial" pitchFamily="34" charset="0"/>
                <a:ea typeface="Arial" pitchFamily="34" charset="-122"/>
                <a:cs typeface="Arial" pitchFamily="34" charset="-120"/>
              </a:rPr>
              <a:t>CIOOS</a:t>
            </a:r>
            <a:endParaRPr lang="en-US" sz="1800" dirty="0"/>
          </a:p>
        </p:txBody>
      </p:sp>
      <p:sp>
        <p:nvSpPr>
          <p:cNvPr id="5" name="Text 2"/>
          <p:cNvSpPr/>
          <p:nvPr/>
        </p:nvSpPr>
        <p:spPr>
          <a:xfrm>
            <a:off x="1047750" y="3972818"/>
            <a:ext cx="15893415" cy="988963"/>
          </a:xfrm>
          <a:prstGeom prst="rect">
            <a:avLst/>
          </a:prstGeom>
          <a:noFill/>
          <a:ln/>
        </p:spPr>
        <p:txBody>
          <a:bodyPr wrap="square" lIns="25400" tIns="25400" rIns="25400" bIns="25400" rtlCol="0" anchor="t">
            <a:normAutofit/>
          </a:bodyPr>
          <a:lstStyle/>
          <a:p>
            <a:pPr algn="l" indent="0" marL="0">
              <a:lnSpc>
                <a:spcPct val="96000"/>
              </a:lnSpc>
              <a:buNone/>
            </a:pPr>
            <a:r>
              <a:rPr lang="en-US" sz="7800" b="1" spc="-234" kern="0" dirty="0">
                <a:solidFill>
                  <a:srgbClr val="152F37"/>
                </a:solidFill>
                <a:latin typeface="Arial" pitchFamily="34" charset="0"/>
                <a:ea typeface="Arial" pitchFamily="34" charset="-122"/>
                <a:cs typeface="Arial" pitchFamily="34" charset="-120"/>
              </a:rPr>
              <a:t>OBIS </a:t>
            </a:r>
            <a:pPr algn="l" indent="0" marL="0">
              <a:lnSpc>
                <a:spcPct val="96000"/>
              </a:lnSpc>
              <a:buNone/>
            </a:pPr>
            <a:r>
              <a:rPr lang="en-US" sz="7800" b="1" spc="-234" kern="0" dirty="0">
                <a:solidFill>
                  <a:srgbClr val="C6E3DF"/>
                </a:solidFill>
                <a:latin typeface="Arial" pitchFamily="34" charset="0"/>
                <a:ea typeface="Arial" pitchFamily="34" charset="-122"/>
                <a:cs typeface="Arial" pitchFamily="34" charset="-120"/>
              </a:rPr>
              <a:t>→ </a:t>
            </a:r>
            <a:pPr algn="l" indent="0" marL="0">
              <a:lnSpc>
                <a:spcPct val="96000"/>
              </a:lnSpc>
              <a:buNone/>
            </a:pPr>
            <a:r>
              <a:rPr lang="en-US" sz="7800" b="1" spc="-234" kern="0" dirty="0">
                <a:solidFill>
                  <a:srgbClr val="152F37"/>
                </a:solidFill>
                <a:latin typeface="Arial" pitchFamily="34" charset="0"/>
                <a:ea typeface="Arial" pitchFamily="34" charset="-122"/>
                <a:cs typeface="Arial" pitchFamily="34" charset="-120"/>
              </a:rPr>
              <a:t>CIOOS</a:t>
            </a:r>
            <a:endParaRPr lang="en-US" sz="7800" dirty="0"/>
          </a:p>
        </p:txBody>
      </p:sp>
      <p:sp>
        <p:nvSpPr>
          <p:cNvPr id="6" name="Text 3"/>
          <p:cNvSpPr/>
          <p:nvPr/>
        </p:nvSpPr>
        <p:spPr>
          <a:xfrm>
            <a:off x="1047750" y="5266581"/>
            <a:ext cx="13538835"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spc="-15" kern="0" dirty="0">
                <a:solidFill>
                  <a:srgbClr val="00232B"/>
                </a:solidFill>
                <a:latin typeface="Arial" pitchFamily="34" charset="0"/>
                <a:ea typeface="Arial" pitchFamily="34" charset="-122"/>
                <a:cs typeface="Arial" pitchFamily="34" charset="-120"/>
              </a:rPr>
              <a:t>Integrating marine biodiversity into the CKAN catalogue and the Data Explorer.</a:t>
            </a:r>
            <a:endParaRPr lang="en-US" sz="3000" dirty="0"/>
          </a:p>
        </p:txBody>
      </p:sp>
      <p:sp>
        <p:nvSpPr>
          <p:cNvPr id="7" name="Text 4"/>
          <p:cNvSpPr/>
          <p:nvPr/>
        </p:nvSpPr>
        <p:spPr>
          <a:xfrm>
            <a:off x="1047750" y="8620125"/>
            <a:ext cx="3337495" cy="447675"/>
          </a:xfrm>
          <a:prstGeom prst="rect">
            <a:avLst/>
          </a:prstGeom>
          <a:noFill/>
          <a:ln/>
        </p:spPr>
        <p:txBody>
          <a:bodyPr wrap="square" lIns="25400" tIns="25400" rIns="25400" bIns="25400" rtlCol="0" anchor="t">
            <a:normAutofit/>
          </a:bodyPr>
          <a:lstStyle/>
          <a:p>
            <a:pPr algn="l" indent="0" marL="0">
              <a:buNone/>
            </a:pPr>
            <a:r>
              <a:rPr lang="en-US" sz="2550" b="1" spc="-6" kern="0" dirty="0">
                <a:solidFill>
                  <a:srgbClr val="152F37"/>
                </a:solidFill>
                <a:latin typeface="Arial" pitchFamily="34" charset="0"/>
                <a:ea typeface="Arial" pitchFamily="34" charset="-122"/>
                <a:cs typeface="Arial" pitchFamily="34" charset="-120"/>
              </a:rPr>
              <a:t>Richard Kelly</a:t>
            </a:r>
            <a:endParaRPr lang="en-US" sz="2550" dirty="0"/>
          </a:p>
        </p:txBody>
      </p:sp>
      <p:sp>
        <p:nvSpPr>
          <p:cNvPr id="8" name="Text 5"/>
          <p:cNvSpPr/>
          <p:nvPr/>
        </p:nvSpPr>
        <p:spPr>
          <a:xfrm>
            <a:off x="1047750" y="9086850"/>
            <a:ext cx="3337495" cy="323850"/>
          </a:xfrm>
          <a:prstGeom prst="rect">
            <a:avLst/>
          </a:prstGeom>
          <a:noFill/>
          <a:ln/>
        </p:spPr>
        <p:txBody>
          <a:bodyPr wrap="square" lIns="25400" tIns="25400" rIns="25400" bIns="25400" rtlCol="0" anchor="t">
            <a:normAutofit/>
          </a:bodyPr>
          <a:lstStyle/>
          <a:p>
            <a:pPr algn="l" indent="0" marL="0">
              <a:buNone/>
            </a:pPr>
            <a:r>
              <a:rPr lang="en-US" sz="1800" spc="-6" kern="0" dirty="0">
                <a:solidFill>
                  <a:srgbClr val="5B6B6E"/>
                </a:solidFill>
                <a:latin typeface="Arial" pitchFamily="34" charset="0"/>
                <a:ea typeface="Arial" pitchFamily="34" charset="-122"/>
                <a:cs typeface="Arial" pitchFamily="34" charset="-120"/>
              </a:rPr>
              <a:t>Full Stack Developer, CIOOS</a:t>
            </a:r>
            <a:endParaRPr lang="en-US" sz="1800" dirty="0"/>
          </a:p>
        </p:txBody>
      </p:sp>
      <p:sp>
        <p:nvSpPr>
          <p:cNvPr id="9" name="Text 6"/>
          <p:cNvSpPr/>
          <p:nvPr/>
        </p:nvSpPr>
        <p:spPr>
          <a:xfrm>
            <a:off x="12408609" y="8641259"/>
            <a:ext cx="4831641" cy="403771"/>
          </a:xfrm>
          <a:prstGeom prst="rect">
            <a:avLst/>
          </a:prstGeom>
          <a:noFill/>
          <a:ln/>
        </p:spPr>
        <p:txBody>
          <a:bodyPr wrap="square" lIns="25400" tIns="25400" rIns="25400" bIns="25400" rtlCol="0" anchor="t">
            <a:normAutofit/>
          </a:bodyPr>
          <a:lstStyle/>
          <a:p>
            <a:pPr algn="r" indent="0" marL="0">
              <a:lnSpc>
                <a:spcPct val="160000"/>
              </a:lnSpc>
              <a:buNone/>
            </a:pPr>
            <a:r>
              <a:rPr lang="en-US" sz="1800" spc="288" kern="0" dirty="0">
                <a:solidFill>
                  <a:srgbClr val="152F37"/>
                </a:solidFill>
                <a:latin typeface="Courier New" pitchFamily="34" charset="0"/>
                <a:ea typeface="Courier New" pitchFamily="34" charset="-122"/>
                <a:cs typeface="Courier New" pitchFamily="34" charset="-120"/>
              </a:rPr>
              <a:t>15 MIN TALK</a:t>
            </a:r>
            <a:endParaRPr lang="en-US" sz="1800" dirty="0"/>
          </a:p>
        </p:txBody>
      </p:sp>
      <p:sp>
        <p:nvSpPr>
          <p:cNvPr id="10" name="Text 7"/>
          <p:cNvSpPr/>
          <p:nvPr/>
        </p:nvSpPr>
        <p:spPr>
          <a:xfrm>
            <a:off x="12408609" y="9006929"/>
            <a:ext cx="4831641" cy="403771"/>
          </a:xfrm>
          <a:prstGeom prst="rect">
            <a:avLst/>
          </a:prstGeom>
          <a:noFill/>
          <a:ln/>
        </p:spPr>
        <p:txBody>
          <a:bodyPr wrap="square" lIns="25400" tIns="25400" rIns="25400" bIns="25400" rtlCol="0" anchor="t">
            <a:normAutofit/>
          </a:bodyPr>
          <a:lstStyle/>
          <a:p>
            <a:pPr algn="r" indent="0" marL="0">
              <a:lnSpc>
                <a:spcPct val="160000"/>
              </a:lnSpc>
              <a:buNone/>
            </a:pPr>
            <a:r>
              <a:rPr lang="en-US" sz="1800" spc="288" kern="0" dirty="0">
                <a:solidFill>
                  <a:srgbClr val="5B6B6E"/>
                </a:solidFill>
                <a:latin typeface="Courier New" pitchFamily="34" charset="0"/>
                <a:ea typeface="Courier New" pitchFamily="34" charset="-122"/>
                <a:cs typeface="Courier New" pitchFamily="34" charset="-120"/>
              </a:rPr>
              <a:t>+ 45 MIN HANDS-ON NOTEBOOKS</a:t>
            </a:r>
            <a:endParaRPr lang="en-US" sz="1800" dirty="0"/>
          </a:p>
        </p:txBody>
      </p:sp>
      <p:pic>
        <p:nvPicPr>
          <p:cNvPr id="11" name="Image 1" descr="preencoded.png">    </p:cNvPr>
          <p:cNvPicPr>
            <a:picLocks noChangeAspect="1"/>
          </p:cNvPicPr>
          <p:nvPr/>
        </p:nvPicPr>
        <p:blipFill>
          <a:blip r:embed="rId2">
            <a:alphaModFix amt="45000"/>
          </a:blip>
          <a:stretch>
            <a:fillRect/>
          </a:stretch>
        </p:blipFill>
        <p:spPr>
          <a:xfrm>
            <a:off x="0" y="9144000"/>
            <a:ext cx="18288000"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893183" y="481012"/>
            <a:ext cx="442317"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02</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AGENDA</a:t>
            </a:r>
            <a:endParaRPr lang="en-US" sz="1800" dirty="0"/>
          </a:p>
        </p:txBody>
      </p:sp>
      <p:sp>
        <p:nvSpPr>
          <p:cNvPr id="6" name="Text 3"/>
          <p:cNvSpPr/>
          <p:nvPr/>
        </p:nvSpPr>
        <p:spPr>
          <a:xfrm>
            <a:off x="1028700" y="1419225"/>
            <a:ext cx="14716125"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What we'll cover.</a:t>
            </a:r>
            <a:endParaRPr lang="en-US" sz="4500" dirty="0"/>
          </a:p>
        </p:txBody>
      </p:sp>
      <p:sp>
        <p:nvSpPr>
          <p:cNvPr id="7" name="Text 4"/>
          <p:cNvSpPr/>
          <p:nvPr/>
        </p:nvSpPr>
        <p:spPr>
          <a:xfrm>
            <a:off x="815340" y="2546896"/>
            <a:ext cx="7976235" cy="3390900"/>
          </a:xfrm>
          <a:prstGeom prst="rect">
            <a:avLst/>
          </a:prstGeom>
          <a:noFill/>
          <a:ln/>
        </p:spPr>
        <p:txBody>
          <a:bodyPr wrap="square" lIns="25400" tIns="25400" rIns="25400" bIns="25400" rtlCol="0" anchor="t">
            <a:normAutofit/>
          </a:bodyPr>
          <a:lstStyle/>
          <a:p>
            <a:pPr algn="l" indent="0" marL="0">
              <a:buNone/>
            </a:pPr>
            <a:r>
              <a:rPr lang="en-US" sz="2400" spc="-6" kern="0" dirty="0">
                <a:solidFill>
                  <a:srgbClr val="152F37"/>
                </a:solidFill>
                <a:latin typeface="Arial" pitchFamily="34" charset="0"/>
                <a:ea typeface="Arial" pitchFamily="34" charset="-122"/>
                <a:cs typeface="Arial" pitchFamily="34" charset="-120"/>
              </a:rPr>
              <a:t>What we built — the integration in plain terms</a:t>
            </a:r>
            <a:endParaRPr lang="en-US" sz="2400" dirty="0"/>
          </a:p>
          <a:p>
            <a:pPr algn="l" indent="0" marL="0">
              <a:buNone/>
            </a:pPr>
            <a:r>
              <a:rPr lang="en-US" sz="2400" spc="-6" kern="0" dirty="0">
                <a:solidFill>
                  <a:srgbClr val="152F37"/>
                </a:solidFill>
                <a:latin typeface="Arial" pitchFamily="34" charset="0"/>
                <a:ea typeface="Arial" pitchFamily="34" charset="-122"/>
                <a:cs typeface="Arial" pitchFamily="34" charset="-120"/>
              </a:rPr>
              <a:t>What users get — catalogue + Data Explorer</a:t>
            </a:r>
            <a:endParaRPr lang="en-US" sz="2400" dirty="0"/>
          </a:p>
          <a:p>
            <a:pPr algn="l" indent="0" marL="0">
              <a:buNone/>
            </a:pPr>
            <a:r>
              <a:rPr lang="en-US" sz="2400" spc="-6" kern="0" dirty="0">
                <a:solidFill>
                  <a:srgbClr val="152F37"/>
                </a:solidFill>
                <a:latin typeface="Arial" pitchFamily="34" charset="0"/>
                <a:ea typeface="Arial" pitchFamily="34" charset="-122"/>
                <a:cs typeface="Arial" pitchFamily="34" charset="-120"/>
              </a:rPr>
              <a:t>The full pipeline — on one page</a:t>
            </a:r>
            <a:endParaRPr lang="en-US" sz="2400" dirty="0"/>
          </a:p>
          <a:p>
            <a:pPr algn="l" indent="0" marL="0">
              <a:buNone/>
            </a:pPr>
            <a:r>
              <a:rPr lang="en-US" sz="2400" spc="-6" kern="0" dirty="0">
                <a:solidFill>
                  <a:srgbClr val="152F37"/>
                </a:solidFill>
                <a:latin typeface="Arial" pitchFamily="34" charset="0"/>
                <a:ea typeface="Arial" pitchFamily="34" charset="-122"/>
                <a:cs typeface="Arial" pitchFamily="34" charset="-120"/>
              </a:rPr>
              <a:t>CKAN side &amp; EOV derivation</a:t>
            </a:r>
            <a:endParaRPr lang="en-US" sz="2400" dirty="0"/>
          </a:p>
          <a:p>
            <a:pPr algn="l" indent="0" marL="0">
              <a:buNone/>
            </a:pPr>
            <a:r>
              <a:rPr lang="en-US" sz="2400" spc="-6" kern="0" dirty="0">
                <a:solidFill>
                  <a:srgbClr val="152F37"/>
                </a:solidFill>
                <a:latin typeface="Arial" pitchFamily="34" charset="0"/>
                <a:ea typeface="Arial" pitchFamily="34" charset="-122"/>
                <a:cs typeface="Arial" pitchFamily="34" charset="-120"/>
              </a:rPr>
              <a:t>CDE side &amp; what's new in the UI</a:t>
            </a:r>
            <a:endParaRPr lang="en-US" sz="2400" dirty="0"/>
          </a:p>
          <a:p>
            <a:pPr algn="l" indent="0" marL="0">
              <a:buNone/>
            </a:pPr>
            <a:r>
              <a:rPr lang="en-US" sz="2400" spc="-6" kern="0" dirty="0">
                <a:solidFill>
                  <a:srgbClr val="152F37"/>
                </a:solidFill>
                <a:latin typeface="Arial" pitchFamily="34" charset="0"/>
                <a:ea typeface="Arial" pitchFamily="34" charset="-122"/>
                <a:cs typeface="Arial" pitchFamily="34" charset="-120"/>
              </a:rPr>
              <a:t>Lessons, status, what's next</a:t>
            </a:r>
            <a:endParaRPr lang="en-US" sz="2400" dirty="0"/>
          </a:p>
        </p:txBody>
      </p:sp>
      <p:sp>
        <p:nvSpPr>
          <p:cNvPr id="8" name="Text 5"/>
          <p:cNvSpPr/>
          <p:nvPr/>
        </p:nvSpPr>
        <p:spPr>
          <a:xfrm>
            <a:off x="1028700" y="9648825"/>
            <a:ext cx="3659103"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RICHARD KELLY · CIOOS</a:t>
            </a:r>
            <a:endParaRPr lang="en-US" sz="1800" dirty="0"/>
          </a:p>
        </p:txBody>
      </p:sp>
      <p:sp>
        <p:nvSpPr>
          <p:cNvPr id="9" name="Text 6"/>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2F37"/>
        </a:solidFill>
      </p:bgPr>
    </p:bg>
    <p:spTree>
      <p:nvGrpSpPr>
        <p:cNvPr id="1" name=""/>
        <p:cNvGrpSpPr/>
        <p:nvPr/>
      </p:nvGrpSpPr>
      <p:grpSpPr>
        <a:xfrm>
          <a:off x="0" y="0"/>
          <a:ext cx="0" cy="0"/>
          <a:chOff x="0" y="0"/>
          <a:chExt cx="0" cy="0"/>
        </a:xfrm>
      </p:grpSpPr>
      <p:sp>
        <p:nvSpPr>
          <p:cNvPr id="2" name="Text 0"/>
          <p:cNvSpPr/>
          <p:nvPr/>
        </p:nvSpPr>
        <p:spPr>
          <a:xfrm>
            <a:off x="1028700" y="533400"/>
            <a:ext cx="2478286"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FFFFFF">
                    <a:alpha val="55000"/>
                  </a:srgbClr>
                </a:solidFill>
                <a:latin typeface="Courier New" pitchFamily="34" charset="0"/>
                <a:ea typeface="Courier New" pitchFamily="34" charset="-122"/>
                <a:cs typeface="Courier New" pitchFamily="34" charset="-120"/>
              </a:rPr>
              <a:t>CIOOS </a:t>
            </a:r>
            <a:pPr algn="l" indent="0" marL="0">
              <a:buNone/>
            </a:pPr>
            <a:r>
              <a:rPr lang="en-US" sz="1800" spc="396" kern="0" dirty="0">
                <a:solidFill>
                  <a:srgbClr val="C6E3DF"/>
                </a:solidFill>
                <a:latin typeface="Courier New" pitchFamily="34" charset="0"/>
                <a:ea typeface="Courier New" pitchFamily="34" charset="-122"/>
                <a:cs typeface="Courier New" pitchFamily="34" charset="-120"/>
              </a:rPr>
              <a:t>/ </a:t>
            </a:r>
            <a:pPr algn="l" indent="0" marL="0">
              <a:buNone/>
            </a:pPr>
            <a:r>
              <a:rPr lang="en-US" sz="1800" spc="396" kern="0" dirty="0">
                <a:solidFill>
                  <a:srgbClr val="FFFFFF">
                    <a:alpha val="55000"/>
                  </a:srgbClr>
                </a:solidFill>
                <a:latin typeface="Courier New" pitchFamily="34" charset="0"/>
                <a:ea typeface="Courier New" pitchFamily="34" charset="-122"/>
                <a:cs typeface="Courier New" pitchFamily="34" charset="-120"/>
              </a:rPr>
              <a:t>OBIS</a:t>
            </a:r>
            <a:endParaRPr lang="en-US" sz="1800" dirty="0"/>
          </a:p>
        </p:txBody>
      </p:sp>
      <p:sp>
        <p:nvSpPr>
          <p:cNvPr id="3" name="Text 1"/>
          <p:cNvSpPr/>
          <p:nvPr/>
        </p:nvSpPr>
        <p:spPr>
          <a:xfrm>
            <a:off x="14912280" y="762000"/>
            <a:ext cx="2423220" cy="2133600"/>
          </a:xfrm>
          <a:prstGeom prst="rect">
            <a:avLst/>
          </a:prstGeom>
          <a:noFill/>
          <a:ln/>
        </p:spPr>
        <p:txBody>
          <a:bodyPr wrap="square" lIns="25400" tIns="25400" rIns="25400" bIns="25400" rtlCol="0" anchor="t">
            <a:normAutofit/>
          </a:bodyPr>
          <a:lstStyle/>
          <a:p>
            <a:pPr algn="l" indent="0" marL="0">
              <a:lnSpc>
                <a:spcPct val="100000"/>
              </a:lnSpc>
              <a:buNone/>
            </a:pPr>
            <a:r>
              <a:rPr lang="en-US" sz="16500" spc="-660" kern="0" dirty="0">
                <a:solidFill>
                  <a:srgbClr val="FFFFFF">
                    <a:alpha val="6000"/>
                  </a:srgbClr>
                </a:solidFill>
                <a:latin typeface="Courier New" pitchFamily="34" charset="0"/>
                <a:ea typeface="Courier New" pitchFamily="34" charset="-122"/>
                <a:cs typeface="Courier New" pitchFamily="34" charset="-120"/>
              </a:rPr>
              <a:t>01</a:t>
            </a:r>
            <a:endParaRPr lang="en-US" sz="16500" dirty="0"/>
          </a:p>
        </p:txBody>
      </p:sp>
      <p:sp>
        <p:nvSpPr>
          <p:cNvPr id="4" name="Text 2"/>
          <p:cNvSpPr/>
          <p:nvPr/>
        </p:nvSpPr>
        <p:spPr>
          <a:xfrm>
            <a:off x="1028700" y="6121003"/>
            <a:ext cx="16717518" cy="333375"/>
          </a:xfrm>
          <a:prstGeom prst="rect">
            <a:avLst/>
          </a:prstGeom>
          <a:noFill/>
          <a:ln/>
        </p:spPr>
        <p:txBody>
          <a:bodyPr wrap="square" lIns="25400" tIns="25400" rIns="25400" bIns="25400" rtlCol="0" anchor="t">
            <a:normAutofit/>
          </a:bodyPr>
          <a:lstStyle/>
          <a:p>
            <a:pPr algn="l" indent="0" marL="0">
              <a:buNone/>
            </a:pPr>
            <a:r>
              <a:rPr lang="en-US" sz="1800" spc="504" kern="0" dirty="0">
                <a:solidFill>
                  <a:srgbClr val="C6E3DF"/>
                </a:solidFill>
                <a:latin typeface="Courier New" pitchFamily="34" charset="0"/>
                <a:ea typeface="Courier New" pitchFamily="34" charset="-122"/>
                <a:cs typeface="Courier New" pitchFamily="34" charset="-120"/>
              </a:rPr>
              <a:t>SECTION ONE</a:t>
            </a:r>
            <a:endParaRPr lang="en-US" sz="1800" dirty="0"/>
          </a:p>
        </p:txBody>
      </p:sp>
      <p:sp>
        <p:nvSpPr>
          <p:cNvPr id="5" name="Text 3"/>
          <p:cNvSpPr/>
          <p:nvPr/>
        </p:nvSpPr>
        <p:spPr>
          <a:xfrm>
            <a:off x="1028700" y="6606778"/>
            <a:ext cx="14716125"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b="1" spc="-270" kern="0" dirty="0">
                <a:solidFill>
                  <a:srgbClr val="FFFFFF"/>
                </a:solidFill>
                <a:latin typeface="Arial" pitchFamily="34" charset="0"/>
                <a:ea typeface="Arial" pitchFamily="34" charset="-122"/>
                <a:cs typeface="Arial" pitchFamily="34" charset="-120"/>
              </a:rPr>
              <a:t>What we built.</a:t>
            </a:r>
            <a:endParaRPr lang="en-US" sz="9000" dirty="0"/>
          </a:p>
        </p:txBody>
      </p:sp>
      <p:sp>
        <p:nvSpPr>
          <p:cNvPr id="6" name="Text 4"/>
          <p:cNvSpPr/>
          <p:nvPr/>
        </p:nvSpPr>
        <p:spPr>
          <a:xfrm>
            <a:off x="1028700" y="8016478"/>
            <a:ext cx="12753975" cy="860822"/>
          </a:xfrm>
          <a:prstGeom prst="rect">
            <a:avLst/>
          </a:prstGeom>
          <a:noFill/>
          <a:ln/>
        </p:spPr>
        <p:txBody>
          <a:bodyPr wrap="square" lIns="25400" tIns="25400" rIns="25400" bIns="25400" rtlCol="0" anchor="t">
            <a:normAutofit/>
          </a:bodyPr>
          <a:lstStyle/>
          <a:p>
            <a:pPr algn="l" indent="0" marL="0">
              <a:lnSpc>
                <a:spcPct val="135000"/>
              </a:lnSpc>
              <a:buNone/>
            </a:pPr>
            <a:r>
              <a:rPr lang="en-US" sz="2400" spc="-6" kern="0" dirty="0">
                <a:solidFill>
                  <a:srgbClr val="FFFFFF">
                    <a:alpha val="70000"/>
                  </a:srgbClr>
                </a:solidFill>
                <a:latin typeface="Arial" pitchFamily="34" charset="0"/>
                <a:ea typeface="Arial" pitchFamily="34" charset="-122"/>
                <a:cs typeface="Arial" pitchFamily="34" charset="-120"/>
              </a:rPr>
              <a:t>OBIS in plain terms, the headline, and what an end user actually sees in the Catalogue and the Data Explorer.</a:t>
            </a:r>
            <a:endParaRPr lang="en-US" sz="2400" dirty="0"/>
          </a:p>
        </p:txBody>
      </p:sp>
      <p:sp>
        <p:nvSpPr>
          <p:cNvPr id="7" name="Shape 5"/>
          <p:cNvSpPr/>
          <p:nvPr/>
        </p:nvSpPr>
        <p:spPr>
          <a:xfrm>
            <a:off x="1028700" y="9677400"/>
            <a:ext cx="1905000" cy="38100"/>
          </a:xfrm>
          <a:prstGeom prst="rect">
            <a:avLst/>
          </a:prstGeom>
          <a:solidFill>
            <a:srgbClr val="C6E3DF"/>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871454" y="481012"/>
            <a:ext cx="464046"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04</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BACKGROUND</a:t>
            </a:r>
            <a:endParaRPr lang="en-US" sz="1800" dirty="0"/>
          </a:p>
        </p:txBody>
      </p:sp>
      <p:sp>
        <p:nvSpPr>
          <p:cNvPr id="6" name="Text 3"/>
          <p:cNvSpPr/>
          <p:nvPr/>
        </p:nvSpPr>
        <p:spPr>
          <a:xfrm>
            <a:off x="1028700" y="1419225"/>
            <a:ext cx="14716125"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OBIS in 60 seconds.</a:t>
            </a:r>
            <a:endParaRPr lang="en-US" sz="4500" dirty="0"/>
          </a:p>
        </p:txBody>
      </p:sp>
      <p:sp>
        <p:nvSpPr>
          <p:cNvPr id="7" name="Shape 4"/>
          <p:cNvSpPr/>
          <p:nvPr/>
        </p:nvSpPr>
        <p:spPr>
          <a:xfrm>
            <a:off x="1028700" y="2546896"/>
            <a:ext cx="28575" cy="1790700"/>
          </a:xfrm>
          <a:prstGeom prst="rect">
            <a:avLst/>
          </a:prstGeom>
          <a:solidFill>
            <a:srgbClr val="53A89B"/>
          </a:solidFill>
          <a:ln/>
        </p:spPr>
      </p:sp>
      <p:sp>
        <p:nvSpPr>
          <p:cNvPr id="8" name="Text 5"/>
          <p:cNvSpPr/>
          <p:nvPr/>
        </p:nvSpPr>
        <p:spPr>
          <a:xfrm>
            <a:off x="1362075" y="2546896"/>
            <a:ext cx="3423952" cy="1104900"/>
          </a:xfrm>
          <a:prstGeom prst="rect">
            <a:avLst/>
          </a:prstGeom>
          <a:noFill/>
          <a:ln/>
        </p:spPr>
        <p:txBody>
          <a:bodyPr wrap="square" lIns="25400" tIns="25400" rIns="25400" bIns="25400" rtlCol="0" anchor="t">
            <a:normAutofit/>
          </a:bodyPr>
          <a:lstStyle/>
          <a:p>
            <a:pPr algn="l" indent="0" marL="0">
              <a:lnSpc>
                <a:spcPct val="100000"/>
              </a:lnSpc>
              <a:buNone/>
            </a:pPr>
            <a:r>
              <a:rPr lang="en-US" sz="8400" b="1" spc="-336" kern="0" dirty="0">
                <a:solidFill>
                  <a:srgbClr val="152F37"/>
                </a:solidFill>
                <a:latin typeface="Arial" pitchFamily="34" charset="0"/>
                <a:ea typeface="Arial" pitchFamily="34" charset="-122"/>
                <a:cs typeface="Arial" pitchFamily="34" charset="-120"/>
              </a:rPr>
              <a:t>~130M</a:t>
            </a:r>
            <a:endParaRPr lang="en-US" sz="8400" dirty="0"/>
          </a:p>
        </p:txBody>
      </p:sp>
      <p:sp>
        <p:nvSpPr>
          <p:cNvPr id="9" name="Text 6"/>
          <p:cNvSpPr/>
          <p:nvPr/>
        </p:nvSpPr>
        <p:spPr>
          <a:xfrm>
            <a:off x="1362075" y="3747046"/>
            <a:ext cx="342395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OCCURRENCE RECORDS</a:t>
            </a:r>
            <a:endParaRPr lang="en-US" sz="1800" dirty="0"/>
          </a:p>
        </p:txBody>
      </p:sp>
      <p:sp>
        <p:nvSpPr>
          <p:cNvPr id="10" name="Shape 7"/>
          <p:cNvSpPr/>
          <p:nvPr/>
        </p:nvSpPr>
        <p:spPr>
          <a:xfrm>
            <a:off x="5219700" y="2546896"/>
            <a:ext cx="28575" cy="1790700"/>
          </a:xfrm>
          <a:prstGeom prst="rect">
            <a:avLst/>
          </a:prstGeom>
          <a:solidFill>
            <a:srgbClr val="53A89B"/>
          </a:solidFill>
          <a:ln/>
        </p:spPr>
      </p:sp>
      <p:sp>
        <p:nvSpPr>
          <p:cNvPr id="11" name="Text 8"/>
          <p:cNvSpPr/>
          <p:nvPr/>
        </p:nvSpPr>
        <p:spPr>
          <a:xfrm>
            <a:off x="5553075" y="2546896"/>
            <a:ext cx="3423952" cy="1104900"/>
          </a:xfrm>
          <a:prstGeom prst="rect">
            <a:avLst/>
          </a:prstGeom>
          <a:noFill/>
          <a:ln/>
        </p:spPr>
        <p:txBody>
          <a:bodyPr wrap="square" lIns="25400" tIns="25400" rIns="25400" bIns="25400" rtlCol="0" anchor="t">
            <a:normAutofit/>
          </a:bodyPr>
          <a:lstStyle/>
          <a:p>
            <a:pPr algn="l" indent="0" marL="0">
              <a:lnSpc>
                <a:spcPct val="100000"/>
              </a:lnSpc>
              <a:buNone/>
            </a:pPr>
            <a:r>
              <a:rPr lang="en-US" sz="8400" b="1" spc="-336" kern="0" dirty="0">
                <a:solidFill>
                  <a:srgbClr val="152F37"/>
                </a:solidFill>
                <a:latin typeface="Arial" pitchFamily="34" charset="0"/>
                <a:ea typeface="Arial" pitchFamily="34" charset="-122"/>
                <a:cs typeface="Arial" pitchFamily="34" charset="-120"/>
              </a:rPr>
              <a:t>30+</a:t>
            </a:r>
            <a:endParaRPr lang="en-US" sz="8400" dirty="0"/>
          </a:p>
        </p:txBody>
      </p:sp>
      <p:sp>
        <p:nvSpPr>
          <p:cNvPr id="12" name="Text 9"/>
          <p:cNvSpPr/>
          <p:nvPr/>
        </p:nvSpPr>
        <p:spPr>
          <a:xfrm>
            <a:off x="5553075" y="3747046"/>
            <a:ext cx="3423952" cy="6286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REGIONAL &amp; THEMATIC NODES</a:t>
            </a:r>
            <a:endParaRPr lang="en-US" sz="1800" dirty="0"/>
          </a:p>
        </p:txBody>
      </p:sp>
      <p:sp>
        <p:nvSpPr>
          <p:cNvPr id="13" name="Shape 10"/>
          <p:cNvSpPr/>
          <p:nvPr/>
        </p:nvSpPr>
        <p:spPr>
          <a:xfrm>
            <a:off x="9410700" y="2546896"/>
            <a:ext cx="28575" cy="1790700"/>
          </a:xfrm>
          <a:prstGeom prst="rect">
            <a:avLst/>
          </a:prstGeom>
          <a:solidFill>
            <a:srgbClr val="53A89B"/>
          </a:solidFill>
          <a:ln/>
        </p:spPr>
      </p:sp>
      <p:sp>
        <p:nvSpPr>
          <p:cNvPr id="14" name="Text 11"/>
          <p:cNvSpPr/>
          <p:nvPr/>
        </p:nvSpPr>
        <p:spPr>
          <a:xfrm>
            <a:off x="9744075" y="2546896"/>
            <a:ext cx="3423952" cy="1104900"/>
          </a:xfrm>
          <a:prstGeom prst="rect">
            <a:avLst/>
          </a:prstGeom>
          <a:noFill/>
          <a:ln/>
        </p:spPr>
        <p:txBody>
          <a:bodyPr wrap="square" lIns="25400" tIns="25400" rIns="25400" bIns="25400" rtlCol="0" anchor="t">
            <a:normAutofit/>
          </a:bodyPr>
          <a:lstStyle/>
          <a:p>
            <a:pPr algn="l" indent="0" marL="0">
              <a:lnSpc>
                <a:spcPct val="100000"/>
              </a:lnSpc>
              <a:buNone/>
            </a:pPr>
            <a:r>
              <a:rPr lang="en-US" sz="8400" b="1" spc="-336" kern="0" dirty="0">
                <a:solidFill>
                  <a:srgbClr val="152F37"/>
                </a:solidFill>
                <a:latin typeface="Arial" pitchFamily="34" charset="0"/>
                <a:ea typeface="Arial" pitchFamily="34" charset="-122"/>
                <a:cs typeface="Arial" pitchFamily="34" charset="-120"/>
              </a:rPr>
              <a:t>1</a:t>
            </a:r>
            <a:endParaRPr lang="en-US" sz="8400" dirty="0"/>
          </a:p>
        </p:txBody>
      </p:sp>
      <p:sp>
        <p:nvSpPr>
          <p:cNvPr id="15" name="Text 12"/>
          <p:cNvSpPr/>
          <p:nvPr/>
        </p:nvSpPr>
        <p:spPr>
          <a:xfrm>
            <a:off x="9744075" y="3747046"/>
            <a:ext cx="342395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UUID PER DATASET</a:t>
            </a:r>
            <a:endParaRPr lang="en-US" sz="1800" dirty="0"/>
          </a:p>
        </p:txBody>
      </p:sp>
      <p:sp>
        <p:nvSpPr>
          <p:cNvPr id="16" name="Shape 13"/>
          <p:cNvSpPr/>
          <p:nvPr/>
        </p:nvSpPr>
        <p:spPr>
          <a:xfrm>
            <a:off x="13601700" y="2546896"/>
            <a:ext cx="28575" cy="1790700"/>
          </a:xfrm>
          <a:prstGeom prst="rect">
            <a:avLst/>
          </a:prstGeom>
          <a:solidFill>
            <a:srgbClr val="53A89B"/>
          </a:solidFill>
          <a:ln/>
        </p:spPr>
      </p:sp>
      <p:sp>
        <p:nvSpPr>
          <p:cNvPr id="17" name="Text 14"/>
          <p:cNvSpPr/>
          <p:nvPr/>
        </p:nvSpPr>
        <p:spPr>
          <a:xfrm>
            <a:off x="13935075" y="2546896"/>
            <a:ext cx="3423952" cy="1104900"/>
          </a:xfrm>
          <a:prstGeom prst="rect">
            <a:avLst/>
          </a:prstGeom>
          <a:noFill/>
          <a:ln/>
        </p:spPr>
        <p:txBody>
          <a:bodyPr wrap="square" lIns="25400" tIns="25400" rIns="25400" bIns="25400" rtlCol="0" anchor="t">
            <a:normAutofit/>
          </a:bodyPr>
          <a:lstStyle/>
          <a:p>
            <a:pPr algn="l" indent="0" marL="0">
              <a:lnSpc>
                <a:spcPct val="100000"/>
              </a:lnSpc>
              <a:buNone/>
            </a:pPr>
            <a:r>
              <a:rPr lang="en-US" sz="8400" b="1" spc="-336" kern="0" dirty="0">
                <a:solidFill>
                  <a:srgbClr val="152F37"/>
                </a:solidFill>
                <a:latin typeface="Arial" pitchFamily="34" charset="0"/>
                <a:ea typeface="Arial" pitchFamily="34" charset="-122"/>
                <a:cs typeface="Arial" pitchFamily="34" charset="-120"/>
              </a:rPr>
              <a:t>0</a:t>
            </a:r>
            <a:endParaRPr lang="en-US" sz="8400" dirty="0"/>
          </a:p>
        </p:txBody>
      </p:sp>
      <p:sp>
        <p:nvSpPr>
          <p:cNvPr id="18" name="Text 15"/>
          <p:cNvSpPr/>
          <p:nvPr/>
        </p:nvSpPr>
        <p:spPr>
          <a:xfrm>
            <a:off x="13935075" y="3747046"/>
            <a:ext cx="342395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AUTH REQUIRED</a:t>
            </a:r>
            <a:endParaRPr lang="en-US" sz="1800" dirty="0"/>
          </a:p>
        </p:txBody>
      </p:sp>
      <p:sp>
        <p:nvSpPr>
          <p:cNvPr id="19" name="Text 16"/>
          <p:cNvSpPr/>
          <p:nvPr/>
        </p:nvSpPr>
        <p:spPr>
          <a:xfrm>
            <a:off x="1371600" y="4870996"/>
            <a:ext cx="1555051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b="1" spc="-6" kern="0" dirty="0">
                <a:solidFill>
                  <a:srgbClr val="152F37"/>
                </a:solidFill>
                <a:latin typeface="Arial" pitchFamily="34" charset="0"/>
                <a:ea typeface="Arial" pitchFamily="34" charset="-122"/>
                <a:cs typeface="Arial" pitchFamily="34" charset="-120"/>
              </a:rPr>
              <a:t>Ocean Biodiversity Information System </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 IOC/UNESCO programme; the marine equivalent of GBIF.</a:t>
            </a:r>
            <a:endParaRPr lang="en-US" sz="2250" dirty="0"/>
          </a:p>
        </p:txBody>
      </p:sp>
      <p:sp>
        <p:nvSpPr>
          <p:cNvPr id="20" name="Text 17"/>
          <p:cNvSpPr/>
          <p:nvPr/>
        </p:nvSpPr>
        <p:spPr>
          <a:xfrm>
            <a:off x="1371600" y="5485358"/>
            <a:ext cx="1555051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Global Darwin Core occurrences fed by regional nodes — </a:t>
            </a:r>
            <a:pPr algn="l" indent="0" marL="0">
              <a:lnSpc>
                <a:spcPct val="135000"/>
              </a:lnSpc>
              <a:buNone/>
            </a:pPr>
            <a:r>
              <a:rPr lang="en-US" sz="2250" b="1" spc="-6" kern="0" dirty="0">
                <a:solidFill>
                  <a:srgbClr val="152F37"/>
                </a:solidFill>
                <a:latin typeface="Arial" pitchFamily="34" charset="0"/>
                <a:ea typeface="Arial" pitchFamily="34" charset="-122"/>
                <a:cs typeface="Arial" pitchFamily="34" charset="-120"/>
              </a:rPr>
              <a:t>OBIS-Canada </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is the Canadian one.</a:t>
            </a:r>
            <a:endParaRPr lang="en-US" sz="2250" dirty="0"/>
          </a:p>
        </p:txBody>
      </p:sp>
      <p:sp>
        <p:nvSpPr>
          <p:cNvPr id="21" name="Text 18"/>
          <p:cNvSpPr/>
          <p:nvPr/>
        </p:nvSpPr>
        <p:spPr>
          <a:xfrm>
            <a:off x="1371600" y="6099721"/>
            <a:ext cx="15550515"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GBIF gives CKAN a terrestrial biodiversity feed; </a:t>
            </a:r>
            <a:pPr algn="l" indent="0" marL="0">
              <a:lnSpc>
                <a:spcPct val="135000"/>
              </a:lnSpc>
              <a:buNone/>
            </a:pPr>
            <a:r>
              <a:rPr lang="en-US" sz="2250" b="1" spc="-6" kern="0" dirty="0">
                <a:solidFill>
                  <a:srgbClr val="152F37"/>
                </a:solidFill>
                <a:latin typeface="Arial" pitchFamily="34" charset="0"/>
                <a:ea typeface="Arial" pitchFamily="34" charset="-122"/>
                <a:cs typeface="Arial" pitchFamily="34" charset="-120"/>
              </a:rPr>
              <a:t>OBIS fills the marine gap for Canadian waters</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a:t>
            </a:r>
            <a:endParaRPr lang="en-US" sz="2250" dirty="0"/>
          </a:p>
        </p:txBody>
      </p:sp>
      <p:sp>
        <p:nvSpPr>
          <p:cNvPr id="22" name="Text 19"/>
          <p:cNvSpPr/>
          <p:nvPr/>
        </p:nvSpPr>
        <p:spPr>
          <a:xfrm>
            <a:off x="1028700" y="9648825"/>
            <a:ext cx="418183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WHAT WE BUILT · 04 OF 16</a:t>
            </a:r>
            <a:endParaRPr lang="en-US" sz="1800" dirty="0"/>
          </a:p>
        </p:txBody>
      </p:sp>
      <p:sp>
        <p:nvSpPr>
          <p:cNvPr id="23" name="Text 20"/>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893183" y="481012"/>
            <a:ext cx="442317"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05</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THE INTEGRATION</a:t>
            </a:r>
            <a:endParaRPr lang="en-US" sz="1800" dirty="0"/>
          </a:p>
        </p:txBody>
      </p:sp>
      <p:sp>
        <p:nvSpPr>
          <p:cNvPr id="6" name="Text 3"/>
          <p:cNvSpPr/>
          <p:nvPr/>
        </p:nvSpPr>
        <p:spPr>
          <a:xfrm>
            <a:off x="1028700" y="1419225"/>
            <a:ext cx="15893415" cy="1385292"/>
          </a:xfrm>
          <a:prstGeom prst="rect">
            <a:avLst/>
          </a:prstGeom>
          <a:noFill/>
          <a:ln/>
        </p:spPr>
        <p:txBody>
          <a:bodyPr wrap="square" lIns="25400" tIns="25400" rIns="25400" bIns="25400" rtlCol="0" anchor="t">
            <a:normAutofit/>
          </a:bodyPr>
          <a:lstStyle/>
          <a:p>
            <a:pPr algn="l" indent="0" marL="0">
              <a:lnSpc>
                <a:spcPct val="104000"/>
              </a:lnSpc>
              <a:buNone/>
            </a:pPr>
            <a:r>
              <a:rPr lang="en-US" sz="5100" b="1" spc="-102" kern="0" dirty="0">
                <a:solidFill>
                  <a:srgbClr val="152F37"/>
                </a:solidFill>
                <a:latin typeface="Arial" pitchFamily="34" charset="0"/>
                <a:ea typeface="Arial" pitchFamily="34" charset="-122"/>
                <a:cs typeface="Arial" pitchFamily="34" charset="-120"/>
              </a:rPr>
              <a:t>OBIS datasets are now first-class in </a:t>
            </a:r>
            <a:pPr algn="l" indent="0" marL="0">
              <a:lnSpc>
                <a:spcPct val="104000"/>
              </a:lnSpc>
              <a:buNone/>
            </a:pPr>
            <a:r>
              <a:rPr lang="en-US" sz="5100" b="1" spc="-102" kern="0" dirty="0">
                <a:solidFill>
                  <a:srgbClr val="53A89B"/>
                </a:solidFill>
                <a:latin typeface="Arial" pitchFamily="34" charset="0"/>
                <a:ea typeface="Arial" pitchFamily="34" charset="-122"/>
                <a:cs typeface="Arial" pitchFamily="34" charset="-120"/>
              </a:rPr>
              <a:t>CIOOS Catalogue </a:t>
            </a:r>
            <a:pPr algn="l" indent="0" marL="0">
              <a:lnSpc>
                <a:spcPct val="104000"/>
              </a:lnSpc>
              <a:buNone/>
            </a:pPr>
            <a:r>
              <a:rPr lang="en-US" sz="5100" b="1" spc="-102" kern="0" dirty="0">
                <a:solidFill>
                  <a:srgbClr val="152F37"/>
                </a:solidFill>
                <a:latin typeface="Arial" pitchFamily="34" charset="0"/>
                <a:ea typeface="Arial" pitchFamily="34" charset="-122"/>
                <a:cs typeface="Arial" pitchFamily="34" charset="-120"/>
              </a:rPr>
              <a:t>and the </a:t>
            </a:r>
            <a:pPr algn="l" indent="0" marL="0">
              <a:lnSpc>
                <a:spcPct val="104000"/>
              </a:lnSpc>
              <a:buNone/>
            </a:pPr>
            <a:r>
              <a:rPr lang="en-US" sz="5100" b="1" spc="-102" kern="0" dirty="0">
                <a:solidFill>
                  <a:srgbClr val="53A89B"/>
                </a:solidFill>
                <a:latin typeface="Arial" pitchFamily="34" charset="0"/>
                <a:ea typeface="Arial" pitchFamily="34" charset="-122"/>
                <a:cs typeface="Arial" pitchFamily="34" charset="-120"/>
              </a:rPr>
              <a:t>Data Explorer</a:t>
            </a:r>
            <a:pPr algn="l" indent="0" marL="0">
              <a:lnSpc>
                <a:spcPct val="104000"/>
              </a:lnSpc>
              <a:buNone/>
            </a:pPr>
            <a:r>
              <a:rPr lang="en-US" sz="5100" b="1" spc="-102" kern="0" dirty="0">
                <a:solidFill>
                  <a:srgbClr val="152F37"/>
                </a:solidFill>
                <a:latin typeface="Arial" pitchFamily="34" charset="0"/>
                <a:ea typeface="Arial" pitchFamily="34" charset="-122"/>
                <a:cs typeface="Arial" pitchFamily="34" charset="-120"/>
              </a:rPr>
              <a:t>.</a:t>
            </a:r>
            <a:endParaRPr lang="en-US" sz="5100" dirty="0"/>
          </a:p>
        </p:txBody>
      </p:sp>
      <p:sp>
        <p:nvSpPr>
          <p:cNvPr id="7" name="Shape 4"/>
          <p:cNvSpPr/>
          <p:nvPr/>
        </p:nvSpPr>
        <p:spPr>
          <a:xfrm>
            <a:off x="1028700" y="4324648"/>
            <a:ext cx="4980831" cy="1001911"/>
          </a:xfrm>
          <a:prstGeom prst="roundRect">
            <a:avLst>
              <a:gd name="adj" fmla="val 11408"/>
            </a:avLst>
          </a:prstGeom>
          <a:solidFill>
            <a:srgbClr val="53A89B">
              <a:alpha val="14000"/>
            </a:srgbClr>
          </a:solidFill>
          <a:ln w="9525">
            <a:solidFill>
              <a:srgbClr val="C6E3DF"/>
            </a:solidFill>
            <a:prstDash val="solid"/>
          </a:ln>
        </p:spPr>
      </p:sp>
      <p:sp>
        <p:nvSpPr>
          <p:cNvPr id="8" name="Text 5"/>
          <p:cNvSpPr/>
          <p:nvPr/>
        </p:nvSpPr>
        <p:spPr>
          <a:xfrm>
            <a:off x="1266825" y="4496098"/>
            <a:ext cx="621804" cy="333375"/>
          </a:xfrm>
          <a:prstGeom prst="rect">
            <a:avLst/>
          </a:prstGeom>
          <a:noFill/>
          <a:ln/>
        </p:spPr>
        <p:txBody>
          <a:bodyPr wrap="square" lIns="0" tIns="0" rIns="0" bIns="0" rtlCol="0" anchor="t">
            <a:normAutofit/>
          </a:bodyPr>
          <a:lstStyle/>
          <a:p>
            <a:pPr algn="l" indent="0" marL="0">
              <a:lnSpc>
                <a:spcPct val="125000"/>
              </a:lnSpc>
              <a:buNone/>
            </a:pPr>
            <a:r>
              <a:rPr lang="en-US" sz="1800" spc="-6" kern="0" dirty="0">
                <a:solidFill>
                  <a:srgbClr val="152F37"/>
                </a:solidFill>
                <a:latin typeface="Courier New" pitchFamily="34" charset="0"/>
                <a:ea typeface="Courier New" pitchFamily="34" charset="-122"/>
                <a:cs typeface="Courier New" pitchFamily="34" charset="-120"/>
              </a:rPr>
              <a:t>OBIS</a:t>
            </a:r>
            <a:endParaRPr lang="en-US" sz="1800" dirty="0"/>
          </a:p>
        </p:txBody>
      </p:sp>
      <p:sp>
        <p:nvSpPr>
          <p:cNvPr id="9" name="Text 6"/>
          <p:cNvSpPr/>
          <p:nvPr/>
        </p:nvSpPr>
        <p:spPr>
          <a:xfrm>
            <a:off x="1266825" y="4848523"/>
            <a:ext cx="4639718"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spc="36" kern="0" dirty="0">
                <a:solidFill>
                  <a:srgbClr val="152F37">
                    <a:alpha val="65000"/>
                  </a:srgbClr>
                </a:solidFill>
                <a:latin typeface="Courier New" pitchFamily="34" charset="0"/>
                <a:ea typeface="Courier New" pitchFamily="34" charset="-122"/>
                <a:cs typeface="Courier New" pitchFamily="34" charset="-120"/>
              </a:rPr>
              <a:t>api.obis.org · S3</a:t>
            </a:r>
            <a:endParaRPr lang="en-US" sz="1800" dirty="0"/>
          </a:p>
        </p:txBody>
      </p:sp>
      <p:sp>
        <p:nvSpPr>
          <p:cNvPr id="10" name="Text 7"/>
          <p:cNvSpPr/>
          <p:nvPr/>
        </p:nvSpPr>
        <p:spPr>
          <a:xfrm>
            <a:off x="5971431" y="4649391"/>
            <a:ext cx="552450" cy="390525"/>
          </a:xfrm>
          <a:prstGeom prst="rect">
            <a:avLst/>
          </a:prstGeom>
          <a:noFill/>
          <a:ln/>
        </p:spPr>
        <p:txBody>
          <a:bodyPr wrap="square" lIns="25400" tIns="25400" rIns="25400" bIns="25400" rtlCol="0" anchor="t">
            <a:normAutofit/>
          </a:bodyPr>
          <a:lstStyle/>
          <a:p>
            <a:pPr algn="ctr" indent="0" marL="0">
              <a:buNone/>
            </a:pPr>
            <a:r>
              <a:rPr lang="en-US" sz="2100" b="1" spc="-6" kern="0" dirty="0">
                <a:solidFill>
                  <a:srgbClr val="53A89B"/>
                </a:solidFill>
                <a:latin typeface="Courier New" pitchFamily="34" charset="0"/>
                <a:ea typeface="Courier New" pitchFamily="34" charset="-122"/>
                <a:cs typeface="Courier New" pitchFamily="34" charset="-120"/>
              </a:rPr>
              <a:t>→</a:t>
            </a:r>
            <a:endParaRPr lang="en-US" sz="2100" dirty="0"/>
          </a:p>
        </p:txBody>
      </p:sp>
      <p:sp>
        <p:nvSpPr>
          <p:cNvPr id="11" name="Shape 8"/>
          <p:cNvSpPr/>
          <p:nvPr/>
        </p:nvSpPr>
        <p:spPr>
          <a:xfrm>
            <a:off x="6485781" y="3757017"/>
            <a:ext cx="5148560" cy="1001911"/>
          </a:xfrm>
          <a:prstGeom prst="roundRect">
            <a:avLst>
              <a:gd name="adj" fmla="val 11408"/>
            </a:avLst>
          </a:prstGeom>
          <a:solidFill>
            <a:srgbClr val="152F37"/>
          </a:solidFill>
          <a:ln w="9525">
            <a:solidFill>
              <a:srgbClr val="152F37"/>
            </a:solidFill>
            <a:prstDash val="solid"/>
          </a:ln>
        </p:spPr>
      </p:sp>
      <p:sp>
        <p:nvSpPr>
          <p:cNvPr id="12" name="Text 9"/>
          <p:cNvSpPr/>
          <p:nvPr/>
        </p:nvSpPr>
        <p:spPr>
          <a:xfrm>
            <a:off x="6723906" y="3928467"/>
            <a:ext cx="1985814" cy="333375"/>
          </a:xfrm>
          <a:prstGeom prst="rect">
            <a:avLst/>
          </a:prstGeom>
          <a:noFill/>
          <a:ln/>
        </p:spPr>
        <p:txBody>
          <a:bodyPr wrap="square" lIns="0" tIns="0" rIns="0" bIns="0" rtlCol="0" anchor="t">
            <a:normAutofit/>
          </a:bodyPr>
          <a:lstStyle/>
          <a:p>
            <a:pPr algn="l" indent="0" marL="0">
              <a:lnSpc>
                <a:spcPct val="125000"/>
              </a:lnSpc>
              <a:buNone/>
            </a:pPr>
            <a:r>
              <a:rPr lang="en-US" sz="1800" spc="-6" kern="0" dirty="0">
                <a:solidFill>
                  <a:srgbClr val="FFFFFF"/>
                </a:solidFill>
                <a:latin typeface="Courier New" pitchFamily="34" charset="0"/>
                <a:ea typeface="Courier New" pitchFamily="34" charset="-122"/>
                <a:cs typeface="Courier New" pitchFamily="34" charset="-120"/>
              </a:rPr>
              <a:t>load_from.obis</a:t>
            </a:r>
            <a:endParaRPr lang="en-US" sz="1800" dirty="0"/>
          </a:p>
        </p:txBody>
      </p:sp>
      <p:sp>
        <p:nvSpPr>
          <p:cNvPr id="13" name="Text 10"/>
          <p:cNvSpPr/>
          <p:nvPr/>
        </p:nvSpPr>
        <p:spPr>
          <a:xfrm>
            <a:off x="6723906" y="4280892"/>
            <a:ext cx="4812479"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spc="36" kern="0" dirty="0">
                <a:solidFill>
                  <a:srgbClr val="FFFFFF">
                    <a:alpha val="70000"/>
                  </a:srgbClr>
                </a:solidFill>
                <a:latin typeface="Courier New" pitchFamily="34" charset="0"/>
                <a:ea typeface="Courier New" pitchFamily="34" charset="-122"/>
                <a:cs typeface="Courier New" pitchFamily="34" charset="-120"/>
              </a:rPr>
              <a:t>metadata mapper</a:t>
            </a:r>
            <a:endParaRPr lang="en-US" sz="1800" dirty="0"/>
          </a:p>
        </p:txBody>
      </p:sp>
      <p:sp>
        <p:nvSpPr>
          <p:cNvPr id="14" name="Shape 11"/>
          <p:cNvSpPr/>
          <p:nvPr/>
        </p:nvSpPr>
        <p:spPr>
          <a:xfrm>
            <a:off x="6485781" y="4892278"/>
            <a:ext cx="5148560" cy="1001911"/>
          </a:xfrm>
          <a:prstGeom prst="roundRect">
            <a:avLst>
              <a:gd name="adj" fmla="val 11408"/>
            </a:avLst>
          </a:prstGeom>
          <a:solidFill>
            <a:srgbClr val="152F37"/>
          </a:solidFill>
          <a:ln w="9525">
            <a:solidFill>
              <a:srgbClr val="152F37"/>
            </a:solidFill>
            <a:prstDash val="solid"/>
          </a:ln>
        </p:spPr>
      </p:sp>
      <p:sp>
        <p:nvSpPr>
          <p:cNvPr id="15" name="Text 12"/>
          <p:cNvSpPr/>
          <p:nvPr/>
        </p:nvSpPr>
        <p:spPr>
          <a:xfrm>
            <a:off x="6723906" y="5063728"/>
            <a:ext cx="1849487" cy="333375"/>
          </a:xfrm>
          <a:prstGeom prst="rect">
            <a:avLst/>
          </a:prstGeom>
          <a:noFill/>
          <a:ln/>
        </p:spPr>
        <p:txBody>
          <a:bodyPr wrap="square" lIns="0" tIns="0" rIns="0" bIns="0" rtlCol="0" anchor="t">
            <a:normAutofit/>
          </a:bodyPr>
          <a:lstStyle/>
          <a:p>
            <a:pPr algn="l" indent="0" marL="0">
              <a:lnSpc>
                <a:spcPct val="125000"/>
              </a:lnSpc>
              <a:buNone/>
            </a:pPr>
            <a:r>
              <a:rPr lang="en-US" sz="1800" spc="-6" kern="0" dirty="0">
                <a:solidFill>
                  <a:srgbClr val="FFFFFF"/>
                </a:solidFill>
                <a:latin typeface="Courier New" pitchFamily="34" charset="0"/>
                <a:ea typeface="Courier New" pitchFamily="34" charset="-122"/>
                <a:cs typeface="Courier New" pitchFamily="34" charset="-120"/>
              </a:rPr>
              <a:t>OBISHarvester</a:t>
            </a:r>
            <a:endParaRPr lang="en-US" sz="1800" dirty="0"/>
          </a:p>
        </p:txBody>
      </p:sp>
      <p:sp>
        <p:nvSpPr>
          <p:cNvPr id="16" name="Text 13"/>
          <p:cNvSpPr/>
          <p:nvPr/>
        </p:nvSpPr>
        <p:spPr>
          <a:xfrm>
            <a:off x="6723906" y="5416153"/>
            <a:ext cx="4812479"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spc="36" kern="0" dirty="0">
                <a:solidFill>
                  <a:srgbClr val="FFFFFF">
                    <a:alpha val="70000"/>
                  </a:srgbClr>
                </a:solidFill>
                <a:latin typeface="Courier New" pitchFamily="34" charset="0"/>
                <a:ea typeface="Courier New" pitchFamily="34" charset="-122"/>
                <a:cs typeface="Courier New" pitchFamily="34" charset="-120"/>
              </a:rPr>
              <a:t>occurrence harvester</a:t>
            </a:r>
            <a:endParaRPr lang="en-US" sz="1800" dirty="0"/>
          </a:p>
        </p:txBody>
      </p:sp>
      <p:sp>
        <p:nvSpPr>
          <p:cNvPr id="17" name="Text 14"/>
          <p:cNvSpPr/>
          <p:nvPr/>
        </p:nvSpPr>
        <p:spPr>
          <a:xfrm>
            <a:off x="11596241" y="4649391"/>
            <a:ext cx="552450" cy="390525"/>
          </a:xfrm>
          <a:prstGeom prst="rect">
            <a:avLst/>
          </a:prstGeom>
          <a:noFill/>
          <a:ln/>
        </p:spPr>
        <p:txBody>
          <a:bodyPr wrap="square" lIns="25400" tIns="25400" rIns="25400" bIns="25400" rtlCol="0" anchor="t">
            <a:normAutofit/>
          </a:bodyPr>
          <a:lstStyle/>
          <a:p>
            <a:pPr algn="ctr" indent="0" marL="0">
              <a:buNone/>
            </a:pPr>
            <a:r>
              <a:rPr lang="en-US" sz="2100" b="1" spc="-6" kern="0" dirty="0">
                <a:solidFill>
                  <a:srgbClr val="53A89B"/>
                </a:solidFill>
                <a:latin typeface="Courier New" pitchFamily="34" charset="0"/>
                <a:ea typeface="Courier New" pitchFamily="34" charset="-122"/>
                <a:cs typeface="Courier New" pitchFamily="34" charset="-120"/>
              </a:rPr>
              <a:t>→</a:t>
            </a:r>
            <a:endParaRPr lang="en-US" sz="2100" dirty="0"/>
          </a:p>
        </p:txBody>
      </p:sp>
      <p:sp>
        <p:nvSpPr>
          <p:cNvPr id="18" name="Shape 15"/>
          <p:cNvSpPr/>
          <p:nvPr/>
        </p:nvSpPr>
        <p:spPr>
          <a:xfrm>
            <a:off x="12110591" y="3757017"/>
            <a:ext cx="5148709" cy="1001911"/>
          </a:xfrm>
          <a:prstGeom prst="roundRect">
            <a:avLst>
              <a:gd name="adj" fmla="val 11408"/>
            </a:avLst>
          </a:prstGeom>
          <a:solidFill>
            <a:srgbClr val="FFFDF7"/>
          </a:solidFill>
          <a:ln w="9525">
            <a:solidFill>
              <a:srgbClr val="D9D5CB"/>
            </a:solidFill>
            <a:prstDash val="solid"/>
          </a:ln>
        </p:spPr>
      </p:sp>
      <p:sp>
        <p:nvSpPr>
          <p:cNvPr id="19" name="Text 16"/>
          <p:cNvSpPr/>
          <p:nvPr/>
        </p:nvSpPr>
        <p:spPr>
          <a:xfrm>
            <a:off x="12348716" y="3928467"/>
            <a:ext cx="1985814" cy="333375"/>
          </a:xfrm>
          <a:prstGeom prst="rect">
            <a:avLst/>
          </a:prstGeom>
          <a:noFill/>
          <a:ln/>
        </p:spPr>
        <p:txBody>
          <a:bodyPr wrap="square" lIns="0" tIns="0" rIns="0" bIns="0" rtlCol="0" anchor="t">
            <a:normAutofit/>
          </a:bodyPr>
          <a:lstStyle/>
          <a:p>
            <a:pPr algn="l" indent="0" marL="0">
              <a:lnSpc>
                <a:spcPct val="125000"/>
              </a:lnSpc>
              <a:buNone/>
            </a:pPr>
            <a:r>
              <a:rPr lang="en-US" sz="1800" spc="-6" kern="0" dirty="0">
                <a:solidFill>
                  <a:srgbClr val="152F37"/>
                </a:solidFill>
                <a:latin typeface="Courier New" pitchFamily="34" charset="0"/>
                <a:ea typeface="Courier New" pitchFamily="34" charset="-122"/>
                <a:cs typeface="Courier New" pitchFamily="34" charset="-120"/>
              </a:rPr>
              <a:t>CKAN catalogue</a:t>
            </a:r>
            <a:endParaRPr lang="en-US" sz="1800" dirty="0"/>
          </a:p>
        </p:txBody>
      </p:sp>
      <p:sp>
        <p:nvSpPr>
          <p:cNvPr id="20" name="Text 17"/>
          <p:cNvSpPr/>
          <p:nvPr/>
        </p:nvSpPr>
        <p:spPr>
          <a:xfrm>
            <a:off x="12348716" y="4280892"/>
            <a:ext cx="4812633"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spc="36" kern="0" dirty="0">
                <a:solidFill>
                  <a:srgbClr val="5B6B6E"/>
                </a:solidFill>
                <a:latin typeface="Courier New" pitchFamily="34" charset="0"/>
                <a:ea typeface="Courier New" pitchFamily="34" charset="-122"/>
                <a:cs typeface="Courier New" pitchFamily="34" charset="-120"/>
              </a:rPr>
              <a:t>ISO 19115-3 records</a:t>
            </a:r>
            <a:endParaRPr lang="en-US" sz="1800" dirty="0"/>
          </a:p>
        </p:txBody>
      </p:sp>
      <p:sp>
        <p:nvSpPr>
          <p:cNvPr id="21" name="Shape 18"/>
          <p:cNvSpPr/>
          <p:nvPr/>
        </p:nvSpPr>
        <p:spPr>
          <a:xfrm>
            <a:off x="12110591" y="4892278"/>
            <a:ext cx="5148709" cy="1001911"/>
          </a:xfrm>
          <a:prstGeom prst="roundRect">
            <a:avLst>
              <a:gd name="adj" fmla="val 11408"/>
            </a:avLst>
          </a:prstGeom>
          <a:solidFill>
            <a:srgbClr val="FFFDF7"/>
          </a:solidFill>
          <a:ln w="9525">
            <a:solidFill>
              <a:srgbClr val="D9D5CB"/>
            </a:solidFill>
            <a:prstDash val="solid"/>
          </a:ln>
        </p:spPr>
      </p:sp>
      <p:sp>
        <p:nvSpPr>
          <p:cNvPr id="22" name="Text 19"/>
          <p:cNvSpPr/>
          <p:nvPr/>
        </p:nvSpPr>
        <p:spPr>
          <a:xfrm>
            <a:off x="12348716" y="5063728"/>
            <a:ext cx="1849487" cy="333375"/>
          </a:xfrm>
          <a:prstGeom prst="rect">
            <a:avLst/>
          </a:prstGeom>
          <a:noFill/>
          <a:ln/>
        </p:spPr>
        <p:txBody>
          <a:bodyPr wrap="square" lIns="0" tIns="0" rIns="0" bIns="0" rtlCol="0" anchor="t">
            <a:normAutofit/>
          </a:bodyPr>
          <a:lstStyle/>
          <a:p>
            <a:pPr algn="l" indent="0" marL="0">
              <a:lnSpc>
                <a:spcPct val="125000"/>
              </a:lnSpc>
              <a:buNone/>
            </a:pPr>
            <a:r>
              <a:rPr lang="en-US" sz="1800" spc="-6" kern="0" dirty="0">
                <a:solidFill>
                  <a:srgbClr val="152F37"/>
                </a:solidFill>
                <a:latin typeface="Courier New" pitchFamily="34" charset="0"/>
                <a:ea typeface="Courier New" pitchFamily="34" charset="-122"/>
                <a:cs typeface="Courier New" pitchFamily="34" charset="-120"/>
              </a:rPr>
              <a:t>Data Explorer</a:t>
            </a:r>
            <a:endParaRPr lang="en-US" sz="1800" dirty="0"/>
          </a:p>
        </p:txBody>
      </p:sp>
      <p:sp>
        <p:nvSpPr>
          <p:cNvPr id="23" name="Text 20"/>
          <p:cNvSpPr/>
          <p:nvPr/>
        </p:nvSpPr>
        <p:spPr>
          <a:xfrm>
            <a:off x="12348716" y="5416153"/>
            <a:ext cx="4812633"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spc="36" kern="0" dirty="0">
                <a:solidFill>
                  <a:srgbClr val="5B6B6E"/>
                </a:solidFill>
                <a:latin typeface="Courier New" pitchFamily="34" charset="0"/>
                <a:ea typeface="Courier New" pitchFamily="34" charset="-122"/>
                <a:cs typeface="Courier New" pitchFamily="34" charset="-120"/>
              </a:rPr>
              <a:t>map · filters · sort</a:t>
            </a:r>
            <a:endParaRPr lang="en-US" sz="1800" dirty="0"/>
          </a:p>
        </p:txBody>
      </p:sp>
      <p:sp>
        <p:nvSpPr>
          <p:cNvPr id="24" name="Shape 21"/>
          <p:cNvSpPr/>
          <p:nvPr/>
        </p:nvSpPr>
        <p:spPr>
          <a:xfrm>
            <a:off x="1028700" y="8549729"/>
            <a:ext cx="15982950" cy="784771"/>
          </a:xfrm>
          <a:prstGeom prst="roundRect">
            <a:avLst>
              <a:gd name="adj" fmla="val 14565"/>
            </a:avLst>
          </a:prstGeom>
          <a:solidFill>
            <a:srgbClr val="53A89B">
              <a:alpha val="12000"/>
            </a:srgbClr>
          </a:solidFill>
          <a:ln w="9525">
            <a:solidFill>
              <a:srgbClr val="53A89B">
                <a:alpha val="32000"/>
              </a:srgbClr>
            </a:solidFill>
            <a:prstDash val="solid"/>
          </a:ln>
        </p:spPr>
      </p:sp>
      <p:sp>
        <p:nvSpPr>
          <p:cNvPr id="25" name="Text 22"/>
          <p:cNvSpPr/>
          <p:nvPr/>
        </p:nvSpPr>
        <p:spPr>
          <a:xfrm>
            <a:off x="1304925" y="8768804"/>
            <a:ext cx="15909989"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spc="-6" kern="0" dirty="0">
                <a:solidFill>
                  <a:srgbClr val="53A89B"/>
                </a:solidFill>
                <a:latin typeface="Arial" pitchFamily="34" charset="0"/>
                <a:ea typeface="Arial" pitchFamily="34" charset="-122"/>
                <a:cs typeface="Arial" pitchFamily="34" charset="-120"/>
              </a:rPr>
              <a:t>One principle: </a:t>
            </a:r>
            <a:pPr algn="l" indent="0" marL="0">
              <a:lnSpc>
                <a:spcPct val="140000"/>
              </a:lnSpc>
              <a:buNone/>
            </a:pPr>
            <a:r>
              <a:rPr lang="en-US" sz="1950" spc="-6" kern="0" dirty="0">
                <a:solidFill>
                  <a:srgbClr val="152F37"/>
                </a:solidFill>
                <a:highlight>
                  <a:srgbClr val="53A89B"/>
                </a:highlight>
                <a:latin typeface="Arial" pitchFamily="34" charset="0"/>
                <a:ea typeface="Arial" pitchFamily="34" charset="-122"/>
                <a:cs typeface="Arial" pitchFamily="34" charset="-120"/>
              </a:rPr>
              <a:t>downloads on CDE link back to the OBIS dataset page. CIOOS is the discovery layer; OBIS owns the rows.</a:t>
            </a:r>
            <a:endParaRPr lang="en-US" sz="1950" dirty="0"/>
          </a:p>
        </p:txBody>
      </p:sp>
      <p:sp>
        <p:nvSpPr>
          <p:cNvPr id="26" name="Text 23"/>
          <p:cNvSpPr/>
          <p:nvPr/>
        </p:nvSpPr>
        <p:spPr>
          <a:xfrm>
            <a:off x="1028700" y="9648825"/>
            <a:ext cx="418183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WHAT WE BUILT · 05 OF 16</a:t>
            </a:r>
            <a:endParaRPr lang="en-US" sz="1800" dirty="0"/>
          </a:p>
        </p:txBody>
      </p:sp>
      <p:sp>
        <p:nvSpPr>
          <p:cNvPr id="27" name="Text 24"/>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883360" y="481012"/>
            <a:ext cx="452140"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06</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FROM A USER'S SEAT</a:t>
            </a:r>
            <a:endParaRPr lang="en-US" sz="1800" dirty="0"/>
          </a:p>
        </p:txBody>
      </p:sp>
      <p:sp>
        <p:nvSpPr>
          <p:cNvPr id="6" name="Text 3"/>
          <p:cNvSpPr/>
          <p:nvPr/>
        </p:nvSpPr>
        <p:spPr>
          <a:xfrm>
            <a:off x="1028700" y="1419225"/>
            <a:ext cx="14716125"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Two surfaces, one story.</a:t>
            </a:r>
            <a:endParaRPr lang="en-US" sz="4500" dirty="0"/>
          </a:p>
        </p:txBody>
      </p:sp>
      <p:sp>
        <p:nvSpPr>
          <p:cNvPr id="7" name="Shape 4"/>
          <p:cNvSpPr/>
          <p:nvPr/>
        </p:nvSpPr>
        <p:spPr>
          <a:xfrm>
            <a:off x="1028700" y="2661196"/>
            <a:ext cx="7810500" cy="6673304"/>
          </a:xfrm>
          <a:prstGeom prst="roundRect">
            <a:avLst>
              <a:gd name="adj" fmla="val 2284"/>
            </a:avLst>
          </a:prstGeom>
          <a:solidFill>
            <a:srgbClr val="FFFDF7"/>
          </a:solidFill>
          <a:ln w="9525">
            <a:solidFill>
              <a:srgbClr val="D9D5CB"/>
            </a:solidFill>
            <a:prstDash val="solid"/>
          </a:ln>
        </p:spPr>
      </p:sp>
      <p:sp>
        <p:nvSpPr>
          <p:cNvPr id="8" name="Text 5"/>
          <p:cNvSpPr/>
          <p:nvPr/>
        </p:nvSpPr>
        <p:spPr>
          <a:xfrm>
            <a:off x="1495425" y="3089821"/>
            <a:ext cx="708336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3A89B"/>
                </a:solidFill>
                <a:latin typeface="Courier New" pitchFamily="34" charset="0"/>
                <a:ea typeface="Courier New" pitchFamily="34" charset="-122"/>
                <a:cs typeface="Courier New" pitchFamily="34" charset="-120"/>
              </a:rPr>
              <a:t>01 · IN THE CKAN CATALOGUE</a:t>
            </a:r>
            <a:endParaRPr lang="en-US" sz="1800" dirty="0"/>
          </a:p>
        </p:txBody>
      </p:sp>
      <p:sp>
        <p:nvSpPr>
          <p:cNvPr id="9" name="Text 6"/>
          <p:cNvSpPr/>
          <p:nvPr/>
        </p:nvSpPr>
        <p:spPr>
          <a:xfrm>
            <a:off x="1495425" y="3556546"/>
            <a:ext cx="7083362" cy="870347"/>
          </a:xfrm>
          <a:prstGeom prst="rect">
            <a:avLst/>
          </a:prstGeom>
          <a:noFill/>
          <a:ln/>
        </p:spPr>
        <p:txBody>
          <a:bodyPr wrap="square" lIns="25400" tIns="25400" rIns="25400" bIns="25400" rtlCol="0" anchor="t">
            <a:normAutofit/>
          </a:bodyPr>
          <a:lstStyle/>
          <a:p>
            <a:pPr algn="l" indent="0" marL="0">
              <a:lnSpc>
                <a:spcPct val="115000"/>
              </a:lnSpc>
              <a:buNone/>
            </a:pPr>
            <a:r>
              <a:rPr lang="en-US" sz="2850" b="1" spc="-6" kern="0" dirty="0">
                <a:solidFill>
                  <a:srgbClr val="152F37"/>
                </a:solidFill>
                <a:latin typeface="Arial" pitchFamily="34" charset="0"/>
                <a:ea typeface="Arial" pitchFamily="34" charset="-122"/>
                <a:cs typeface="Arial" pitchFamily="34" charset="-120"/>
              </a:rPr>
              <a:t>Discoverable like any other CIOOS dataset.</a:t>
            </a:r>
            <a:endParaRPr lang="en-US" sz="2850" dirty="0"/>
          </a:p>
        </p:txBody>
      </p:sp>
      <p:sp>
        <p:nvSpPr>
          <p:cNvPr id="10" name="Text 7"/>
          <p:cNvSpPr/>
          <p:nvPr/>
        </p:nvSpPr>
        <p:spPr>
          <a:xfrm>
            <a:off x="1838325" y="4617393"/>
            <a:ext cx="67404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Title, abstract, license, contacts, extent.</a:t>
            </a:r>
            <a:endParaRPr lang="en-US" sz="1950" dirty="0"/>
          </a:p>
        </p:txBody>
      </p:sp>
      <p:sp>
        <p:nvSpPr>
          <p:cNvPr id="11" name="Text 8"/>
          <p:cNvSpPr/>
          <p:nvPr/>
        </p:nvSpPr>
        <p:spPr>
          <a:xfrm>
            <a:off x="1838325" y="5180261"/>
            <a:ext cx="67404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Curated </a:t>
            </a:r>
            <a:pPr algn="l" indent="0" marL="0">
              <a:lnSpc>
                <a:spcPct val="135000"/>
              </a:lnSpc>
              <a:buNone/>
            </a:pPr>
            <a:r>
              <a:rPr lang="en-US" sz="1950" b="1" spc="-6" kern="0" dirty="0">
                <a:solidFill>
                  <a:srgbClr val="152F37"/>
                </a:solidFill>
                <a:latin typeface="Arial" pitchFamily="34" charset="0"/>
                <a:ea typeface="Arial" pitchFamily="34" charset="-122"/>
                <a:cs typeface="Arial" pitchFamily="34" charset="-120"/>
              </a:rPr>
              <a:t>EOV list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(derived — slide 10).</a:t>
            </a:r>
            <a:endParaRPr lang="en-US" sz="1950" dirty="0"/>
          </a:p>
        </p:txBody>
      </p:sp>
      <p:sp>
        <p:nvSpPr>
          <p:cNvPr id="12" name="Text 9"/>
          <p:cNvSpPr/>
          <p:nvPr/>
        </p:nvSpPr>
        <p:spPr>
          <a:xfrm>
            <a:off x="1838325" y="5743129"/>
            <a:ext cx="67404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Inferred </a:t>
            </a:r>
            <a:pPr algn="l" indent="0" marL="0">
              <a:lnSpc>
                <a:spcPct val="135000"/>
              </a:lnSpc>
              <a:buNone/>
            </a:pPr>
            <a:r>
              <a:rPr lang="en-US" sz="1950" b="1" spc="-6" kern="0" dirty="0">
                <a:solidFill>
                  <a:srgbClr val="152F37"/>
                </a:solidFill>
                <a:latin typeface="Arial" pitchFamily="34" charset="0"/>
                <a:ea typeface="Arial" pitchFamily="34" charset="-122"/>
                <a:cs typeface="Arial" pitchFamily="34" charset="-120"/>
              </a:rPr>
              <a:t>platform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from samplingProtocol.</a:t>
            </a:r>
            <a:endParaRPr lang="en-US" sz="1950" dirty="0"/>
          </a:p>
        </p:txBody>
      </p:sp>
      <p:sp>
        <p:nvSpPr>
          <p:cNvPr id="13" name="Text 10"/>
          <p:cNvSpPr/>
          <p:nvPr/>
        </p:nvSpPr>
        <p:spPr>
          <a:xfrm>
            <a:off x="1838325" y="6305996"/>
            <a:ext cx="67404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spc="-6" kern="0" dirty="0">
                <a:solidFill>
                  <a:srgbClr val="152F37"/>
                </a:solidFill>
                <a:latin typeface="Arial" pitchFamily="34" charset="0"/>
                <a:ea typeface="Arial" pitchFamily="34" charset="-122"/>
                <a:cs typeface="Arial" pitchFamily="34" charset="-120"/>
              </a:rPr>
              <a:t>Download → OBIS dataset page</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a:t>
            </a:r>
            <a:endParaRPr lang="en-US" sz="1950" dirty="0"/>
          </a:p>
        </p:txBody>
      </p:sp>
      <p:sp>
        <p:nvSpPr>
          <p:cNvPr id="14" name="Shape 11"/>
          <p:cNvSpPr/>
          <p:nvPr/>
        </p:nvSpPr>
        <p:spPr>
          <a:xfrm>
            <a:off x="9448800" y="2661196"/>
            <a:ext cx="7810500" cy="6673304"/>
          </a:xfrm>
          <a:prstGeom prst="roundRect">
            <a:avLst>
              <a:gd name="adj" fmla="val 2284"/>
            </a:avLst>
          </a:prstGeom>
          <a:solidFill>
            <a:srgbClr val="FFFDF7"/>
          </a:solidFill>
          <a:ln w="9525">
            <a:solidFill>
              <a:srgbClr val="D9D5CB"/>
            </a:solidFill>
            <a:prstDash val="solid"/>
          </a:ln>
        </p:spPr>
      </p:sp>
      <p:sp>
        <p:nvSpPr>
          <p:cNvPr id="15" name="Text 12"/>
          <p:cNvSpPr/>
          <p:nvPr/>
        </p:nvSpPr>
        <p:spPr>
          <a:xfrm>
            <a:off x="9915525" y="3089821"/>
            <a:ext cx="708336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3A89B"/>
                </a:solidFill>
                <a:latin typeface="Courier New" pitchFamily="34" charset="0"/>
                <a:ea typeface="Courier New" pitchFamily="34" charset="-122"/>
                <a:cs typeface="Courier New" pitchFamily="34" charset="-120"/>
              </a:rPr>
              <a:t>02 · ON THE DATA EXPLORER</a:t>
            </a:r>
            <a:endParaRPr lang="en-US" sz="1800" dirty="0"/>
          </a:p>
        </p:txBody>
      </p:sp>
      <p:sp>
        <p:nvSpPr>
          <p:cNvPr id="16" name="Text 13"/>
          <p:cNvSpPr/>
          <p:nvPr/>
        </p:nvSpPr>
        <p:spPr>
          <a:xfrm>
            <a:off x="9915525" y="3556546"/>
            <a:ext cx="7083362" cy="870347"/>
          </a:xfrm>
          <a:prstGeom prst="rect">
            <a:avLst/>
          </a:prstGeom>
          <a:noFill/>
          <a:ln/>
        </p:spPr>
        <p:txBody>
          <a:bodyPr wrap="square" lIns="25400" tIns="25400" rIns="25400" bIns="25400" rtlCol="0" anchor="t">
            <a:normAutofit/>
          </a:bodyPr>
          <a:lstStyle/>
          <a:p>
            <a:pPr algn="l" indent="0" marL="0">
              <a:lnSpc>
                <a:spcPct val="115000"/>
              </a:lnSpc>
              <a:buNone/>
            </a:pPr>
            <a:r>
              <a:rPr lang="en-US" sz="2850" b="1" spc="-6" kern="0" dirty="0">
                <a:solidFill>
                  <a:srgbClr val="152F37"/>
                </a:solidFill>
                <a:latin typeface="Arial" pitchFamily="34" charset="0"/>
                <a:ea typeface="Arial" pitchFamily="34" charset="-122"/>
                <a:cs typeface="Arial" pitchFamily="34" charset="-120"/>
              </a:rPr>
              <a:t>Filter, sort, map — same UX as ERDDAP datasets.</a:t>
            </a:r>
            <a:endParaRPr lang="en-US" sz="2850" dirty="0"/>
          </a:p>
        </p:txBody>
      </p:sp>
      <p:sp>
        <p:nvSpPr>
          <p:cNvPr id="17" name="Text 14"/>
          <p:cNvSpPr/>
          <p:nvPr/>
        </p:nvSpPr>
        <p:spPr>
          <a:xfrm>
            <a:off x="10258425" y="4617393"/>
            <a:ext cx="6740462"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Filter by </a:t>
            </a:r>
            <a:pPr algn="l" indent="0" marL="0">
              <a:lnSpc>
                <a:spcPct val="135000"/>
              </a:lnSpc>
              <a:buNone/>
            </a:pPr>
            <a:r>
              <a:rPr lang="en-US" sz="1950" b="1" spc="-6" kern="0" dirty="0">
                <a:solidFill>
                  <a:srgbClr val="152F37"/>
                </a:solidFill>
                <a:latin typeface="Arial" pitchFamily="34" charset="0"/>
                <a:ea typeface="Arial" pitchFamily="34" charset="-122"/>
                <a:cs typeface="Arial" pitchFamily="34" charset="-120"/>
              </a:rPr>
              <a:t>scientific name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at any rank — </a:t>
            </a:r>
            <a:pPr algn="l" indent="0" marL="0">
              <a:lnSpc>
                <a:spcPct val="135000"/>
              </a:lnSpc>
              <a:buNone/>
            </a:pPr>
            <a:r>
              <a:rPr lang="en-US" sz="1677" spc="-6" kern="0" dirty="0">
                <a:solidFill>
                  <a:srgbClr val="152F37"/>
                </a:solidFill>
                <a:highlight>
                  <a:srgbClr val="53A89B"/>
                </a:highlight>
                <a:latin typeface="Courier New" pitchFamily="34" charset="0"/>
                <a:ea typeface="Courier New" pitchFamily="34" charset="-122"/>
                <a:cs typeface="Courier New" pitchFamily="34" charset="-120"/>
              </a:rPr>
              <a:t>Laridae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rolls up every species.</a:t>
            </a:r>
            <a:endParaRPr lang="en-US" sz="1950" dirty="0"/>
          </a:p>
        </p:txBody>
      </p:sp>
      <p:sp>
        <p:nvSpPr>
          <p:cNvPr id="18" name="Text 15"/>
          <p:cNvSpPr/>
          <p:nvPr/>
        </p:nvSpPr>
        <p:spPr>
          <a:xfrm>
            <a:off x="10258425" y="5514529"/>
            <a:ext cx="6740462"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Or </a:t>
            </a:r>
            <a:pPr algn="l" indent="0" marL="0">
              <a:lnSpc>
                <a:spcPct val="135000"/>
              </a:lnSpc>
              <a:buNone/>
            </a:pPr>
            <a:r>
              <a:rPr lang="en-US" sz="1950" b="1" spc="-6" kern="0" dirty="0">
                <a:solidFill>
                  <a:srgbClr val="152F37"/>
                </a:solidFill>
                <a:latin typeface="Arial" pitchFamily="34" charset="0"/>
                <a:ea typeface="Arial" pitchFamily="34" charset="-122"/>
                <a:cs typeface="Arial" pitchFamily="34" charset="-120"/>
              </a:rPr>
              <a:t>vernacular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 </a:t>
            </a:r>
            <a:pPr algn="l" indent="0" marL="0">
              <a:lnSpc>
                <a:spcPct val="135000"/>
              </a:lnSpc>
              <a:buNone/>
            </a:pPr>
            <a:r>
              <a:rPr lang="en-US" sz="1677" spc="-6" kern="0" dirty="0">
                <a:solidFill>
                  <a:srgbClr val="152F37"/>
                </a:solidFill>
                <a:highlight>
                  <a:srgbClr val="53A89B"/>
                </a:highlight>
                <a:latin typeface="Courier New" pitchFamily="34" charset="0"/>
                <a:ea typeface="Courier New" pitchFamily="34" charset="-122"/>
                <a:cs typeface="Courier New" pitchFamily="34" charset="-120"/>
              </a:rPr>
              <a:t>gulls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resolves the same way via WoRMS.</a:t>
            </a:r>
            <a:endParaRPr lang="en-US" sz="1950" dirty="0"/>
          </a:p>
        </p:txBody>
      </p:sp>
      <p:sp>
        <p:nvSpPr>
          <p:cNvPr id="19" name="Text 16"/>
          <p:cNvSpPr/>
          <p:nvPr/>
        </p:nvSpPr>
        <p:spPr>
          <a:xfrm>
            <a:off x="10258425" y="6411664"/>
            <a:ext cx="67404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Sort by organization, EOV, depth, time.</a:t>
            </a:r>
            <a:endParaRPr lang="en-US" sz="1950" dirty="0"/>
          </a:p>
        </p:txBody>
      </p:sp>
      <p:sp>
        <p:nvSpPr>
          <p:cNvPr id="20" name="Text 17"/>
          <p:cNvSpPr/>
          <p:nvPr/>
        </p:nvSpPr>
        <p:spPr>
          <a:xfrm>
            <a:off x="10258425" y="6974532"/>
            <a:ext cx="67404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Occurrences gridded to ~5 nm cells on the map.</a:t>
            </a:r>
            <a:endParaRPr lang="en-US" sz="1950" dirty="0"/>
          </a:p>
        </p:txBody>
      </p:sp>
      <p:sp>
        <p:nvSpPr>
          <p:cNvPr id="21" name="Text 18"/>
          <p:cNvSpPr/>
          <p:nvPr/>
        </p:nvSpPr>
        <p:spPr>
          <a:xfrm>
            <a:off x="1028700" y="9648825"/>
            <a:ext cx="418183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WHAT WE BUILT · 06 OF 16</a:t>
            </a:r>
            <a:endParaRPr lang="en-US" sz="1800" dirty="0"/>
          </a:p>
        </p:txBody>
      </p:sp>
      <p:sp>
        <p:nvSpPr>
          <p:cNvPr id="22" name="Text 19"/>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2F37"/>
        </a:solidFill>
      </p:bgPr>
    </p:bg>
    <p:spTree>
      <p:nvGrpSpPr>
        <p:cNvPr id="1" name=""/>
        <p:cNvGrpSpPr/>
        <p:nvPr/>
      </p:nvGrpSpPr>
      <p:grpSpPr>
        <a:xfrm>
          <a:off x="0" y="0"/>
          <a:ext cx="0" cy="0"/>
          <a:chOff x="0" y="0"/>
          <a:chExt cx="0" cy="0"/>
        </a:xfrm>
      </p:grpSpPr>
      <p:sp>
        <p:nvSpPr>
          <p:cNvPr id="2" name="Text 0"/>
          <p:cNvSpPr/>
          <p:nvPr/>
        </p:nvSpPr>
        <p:spPr>
          <a:xfrm>
            <a:off x="1028700" y="533400"/>
            <a:ext cx="2478286"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FFFFFF">
                    <a:alpha val="55000"/>
                  </a:srgbClr>
                </a:solidFill>
                <a:latin typeface="Courier New" pitchFamily="34" charset="0"/>
                <a:ea typeface="Courier New" pitchFamily="34" charset="-122"/>
                <a:cs typeface="Courier New" pitchFamily="34" charset="-120"/>
              </a:rPr>
              <a:t>CIOOS </a:t>
            </a:r>
            <a:pPr algn="l" indent="0" marL="0">
              <a:buNone/>
            </a:pPr>
            <a:r>
              <a:rPr lang="en-US" sz="1800" spc="396" kern="0" dirty="0">
                <a:solidFill>
                  <a:srgbClr val="C6E3DF"/>
                </a:solidFill>
                <a:latin typeface="Courier New" pitchFamily="34" charset="0"/>
                <a:ea typeface="Courier New" pitchFamily="34" charset="-122"/>
                <a:cs typeface="Courier New" pitchFamily="34" charset="-120"/>
              </a:rPr>
              <a:t>/ </a:t>
            </a:r>
            <a:pPr algn="l" indent="0" marL="0">
              <a:buNone/>
            </a:pPr>
            <a:r>
              <a:rPr lang="en-US" sz="1800" spc="396" kern="0" dirty="0">
                <a:solidFill>
                  <a:srgbClr val="FFFFFF">
                    <a:alpha val="55000"/>
                  </a:srgbClr>
                </a:solidFill>
                <a:latin typeface="Courier New" pitchFamily="34" charset="0"/>
                <a:ea typeface="Courier New" pitchFamily="34" charset="-122"/>
                <a:cs typeface="Courier New" pitchFamily="34" charset="-120"/>
              </a:rPr>
              <a:t>OBIS</a:t>
            </a:r>
            <a:endParaRPr lang="en-US" sz="1800" dirty="0"/>
          </a:p>
        </p:txBody>
      </p:sp>
      <p:sp>
        <p:nvSpPr>
          <p:cNvPr id="3" name="Text 1"/>
          <p:cNvSpPr/>
          <p:nvPr/>
        </p:nvSpPr>
        <p:spPr>
          <a:xfrm>
            <a:off x="14912280" y="762000"/>
            <a:ext cx="2423220" cy="2133600"/>
          </a:xfrm>
          <a:prstGeom prst="rect">
            <a:avLst/>
          </a:prstGeom>
          <a:noFill/>
          <a:ln/>
        </p:spPr>
        <p:txBody>
          <a:bodyPr wrap="square" lIns="25400" tIns="25400" rIns="25400" bIns="25400" rtlCol="0" anchor="t">
            <a:normAutofit/>
          </a:bodyPr>
          <a:lstStyle/>
          <a:p>
            <a:pPr algn="l" indent="0" marL="0">
              <a:lnSpc>
                <a:spcPct val="100000"/>
              </a:lnSpc>
              <a:buNone/>
            </a:pPr>
            <a:r>
              <a:rPr lang="en-US" sz="16500" spc="-660" kern="0" dirty="0">
                <a:solidFill>
                  <a:srgbClr val="FFFFFF">
                    <a:alpha val="6000"/>
                  </a:srgbClr>
                </a:solidFill>
                <a:latin typeface="Courier New" pitchFamily="34" charset="0"/>
                <a:ea typeface="Courier New" pitchFamily="34" charset="-122"/>
                <a:cs typeface="Courier New" pitchFamily="34" charset="-120"/>
              </a:rPr>
              <a:t>02</a:t>
            </a:r>
            <a:endParaRPr lang="en-US" sz="16500" dirty="0"/>
          </a:p>
        </p:txBody>
      </p:sp>
      <p:sp>
        <p:nvSpPr>
          <p:cNvPr id="4" name="Text 2"/>
          <p:cNvSpPr/>
          <p:nvPr/>
        </p:nvSpPr>
        <p:spPr>
          <a:xfrm>
            <a:off x="1028700" y="6121003"/>
            <a:ext cx="16717518" cy="333375"/>
          </a:xfrm>
          <a:prstGeom prst="rect">
            <a:avLst/>
          </a:prstGeom>
          <a:noFill/>
          <a:ln/>
        </p:spPr>
        <p:txBody>
          <a:bodyPr wrap="square" lIns="25400" tIns="25400" rIns="25400" bIns="25400" rtlCol="0" anchor="t">
            <a:normAutofit/>
          </a:bodyPr>
          <a:lstStyle/>
          <a:p>
            <a:pPr algn="l" indent="0" marL="0">
              <a:buNone/>
            </a:pPr>
            <a:r>
              <a:rPr lang="en-US" sz="1800" spc="504" kern="0" dirty="0">
                <a:solidFill>
                  <a:srgbClr val="C6E3DF"/>
                </a:solidFill>
                <a:latin typeface="Courier New" pitchFamily="34" charset="0"/>
                <a:ea typeface="Courier New" pitchFamily="34" charset="-122"/>
                <a:cs typeface="Courier New" pitchFamily="34" charset="-120"/>
              </a:rPr>
              <a:t>SECTION TWO</a:t>
            </a:r>
            <a:endParaRPr lang="en-US" sz="1800" dirty="0"/>
          </a:p>
        </p:txBody>
      </p:sp>
      <p:sp>
        <p:nvSpPr>
          <p:cNvPr id="5" name="Text 3"/>
          <p:cNvSpPr/>
          <p:nvPr/>
        </p:nvSpPr>
        <p:spPr>
          <a:xfrm>
            <a:off x="1028700" y="6606778"/>
            <a:ext cx="14716125"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b="1" spc="-270" kern="0" dirty="0">
                <a:solidFill>
                  <a:srgbClr val="FFFFFF"/>
                </a:solidFill>
                <a:latin typeface="Arial" pitchFamily="34" charset="0"/>
                <a:ea typeface="Arial" pitchFamily="34" charset="-122"/>
                <a:cs typeface="Arial" pitchFamily="34" charset="-120"/>
              </a:rPr>
              <a:t>How it works.</a:t>
            </a:r>
            <a:endParaRPr lang="en-US" sz="9000" dirty="0"/>
          </a:p>
        </p:txBody>
      </p:sp>
      <p:sp>
        <p:nvSpPr>
          <p:cNvPr id="6" name="Text 4"/>
          <p:cNvSpPr/>
          <p:nvPr/>
        </p:nvSpPr>
        <p:spPr>
          <a:xfrm>
            <a:off x="1028700" y="8016478"/>
            <a:ext cx="12753975" cy="860822"/>
          </a:xfrm>
          <a:prstGeom prst="rect">
            <a:avLst/>
          </a:prstGeom>
          <a:noFill/>
          <a:ln/>
        </p:spPr>
        <p:txBody>
          <a:bodyPr wrap="square" lIns="25400" tIns="25400" rIns="25400" bIns="25400" rtlCol="0" anchor="t">
            <a:normAutofit/>
          </a:bodyPr>
          <a:lstStyle/>
          <a:p>
            <a:pPr algn="l" indent="0" marL="0">
              <a:lnSpc>
                <a:spcPct val="135000"/>
              </a:lnSpc>
              <a:buNone/>
            </a:pPr>
            <a:r>
              <a:rPr lang="en-US" sz="2400" spc="-6" kern="0" dirty="0">
                <a:solidFill>
                  <a:srgbClr val="FFFFFF">
                    <a:alpha val="70000"/>
                  </a:srgbClr>
                </a:solidFill>
                <a:latin typeface="Arial" pitchFamily="34" charset="0"/>
                <a:ea typeface="Arial" pitchFamily="34" charset="-122"/>
                <a:cs typeface="Arial" pitchFamily="34" charset="-120"/>
              </a:rPr>
              <a:t>Two pipelines moving in opposite directions, plus the EOV-derivation logic that holds them together.</a:t>
            </a:r>
            <a:endParaRPr lang="en-US" sz="2400" dirty="0"/>
          </a:p>
        </p:txBody>
      </p:sp>
      <p:sp>
        <p:nvSpPr>
          <p:cNvPr id="7" name="Shape 5"/>
          <p:cNvSpPr/>
          <p:nvPr/>
        </p:nvSpPr>
        <p:spPr>
          <a:xfrm>
            <a:off x="1028700" y="9677400"/>
            <a:ext cx="1905000" cy="38100"/>
          </a:xfrm>
          <a:prstGeom prst="rect">
            <a:avLst/>
          </a:prstGeom>
          <a:solidFill>
            <a:srgbClr val="C6E3DF"/>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889313" y="481012"/>
            <a:ext cx="446187"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07</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ARCHITECTURE</a:t>
            </a:r>
            <a:endParaRPr lang="en-US" sz="1800" dirty="0"/>
          </a:p>
        </p:txBody>
      </p:sp>
      <p:sp>
        <p:nvSpPr>
          <p:cNvPr id="6" name="Text 3"/>
          <p:cNvSpPr/>
          <p:nvPr/>
        </p:nvSpPr>
        <p:spPr>
          <a:xfrm>
            <a:off x="1028700" y="1419225"/>
            <a:ext cx="14716125"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The full pipeline, one page.</a:t>
            </a:r>
            <a:endParaRPr lang="en-US" sz="4500" dirty="0"/>
          </a:p>
        </p:txBody>
      </p:sp>
      <p:sp>
        <p:nvSpPr>
          <p:cNvPr id="7" name="Text 4"/>
          <p:cNvSpPr/>
          <p:nvPr/>
        </p:nvSpPr>
        <p:spPr>
          <a:xfrm>
            <a:off x="1028700" y="2394496"/>
            <a:ext cx="2362200" cy="247650"/>
          </a:xfrm>
          <a:prstGeom prst="rect">
            <a:avLst/>
          </a:prstGeom>
          <a:noFill/>
          <a:ln/>
        </p:spPr>
        <p:txBody>
          <a:bodyPr wrap="square" lIns="25400" tIns="25400" rIns="25400" bIns="25400" rtlCol="0" anchor="t">
            <a:normAutofit/>
          </a:bodyPr>
          <a:lstStyle/>
          <a:p>
            <a:pPr algn="l" indent="0" marL="0">
              <a:buNone/>
            </a:pPr>
            <a:r>
              <a:rPr lang="en-US" sz="1350" b="1" spc="297" kern="0" dirty="0">
                <a:solidFill>
                  <a:srgbClr val="5B6B6E"/>
                </a:solidFill>
                <a:latin typeface="Arial" pitchFamily="34" charset="0"/>
                <a:ea typeface="Arial" pitchFamily="34" charset="-122"/>
                <a:cs typeface="Arial" pitchFamily="34" charset="-120"/>
              </a:rPr>
              <a:t>OBIS</a:t>
            </a:r>
            <a:endParaRPr lang="en-US" sz="1350" dirty="0"/>
          </a:p>
        </p:txBody>
      </p:sp>
      <p:sp>
        <p:nvSpPr>
          <p:cNvPr id="8" name="Shape 5"/>
          <p:cNvSpPr/>
          <p:nvPr/>
        </p:nvSpPr>
        <p:spPr>
          <a:xfrm>
            <a:off x="1028700" y="2908846"/>
            <a:ext cx="2286000" cy="638175"/>
          </a:xfrm>
          <a:prstGeom prst="roundRect">
            <a:avLst>
              <a:gd name="adj" fmla="val 14925"/>
            </a:avLst>
          </a:prstGeom>
          <a:solidFill>
            <a:srgbClr val="53A89B">
              <a:alpha val="14000"/>
            </a:srgbClr>
          </a:solidFill>
          <a:ln w="9525">
            <a:solidFill>
              <a:srgbClr val="C6E3DF"/>
            </a:solidFill>
            <a:prstDash val="solid"/>
          </a:ln>
        </p:spPr>
      </p:sp>
      <p:sp>
        <p:nvSpPr>
          <p:cNvPr id="9" name="Text 6"/>
          <p:cNvSpPr/>
          <p:nvPr/>
        </p:nvSpPr>
        <p:spPr>
          <a:xfrm>
            <a:off x="1247775" y="3089821"/>
            <a:ext cx="1924050" cy="314325"/>
          </a:xfrm>
          <a:prstGeom prst="rect">
            <a:avLst/>
          </a:prstGeom>
          <a:noFill/>
          <a:ln/>
        </p:spPr>
        <p:txBody>
          <a:bodyPr wrap="square" lIns="25400" tIns="25400" rIns="25400" bIns="25400" rtlCol="0" anchor="t">
            <a:normAutofit/>
          </a:bodyPr>
          <a:lstStyle/>
          <a:p>
            <a:pPr algn="l" indent="0" marL="0">
              <a:buNone/>
            </a:pPr>
            <a:r>
              <a:rPr lang="en-US" sz="1650" spc="-6" kern="0" dirty="0">
                <a:solidFill>
                  <a:srgbClr val="152F37"/>
                </a:solidFill>
                <a:latin typeface="Courier New" pitchFamily="34" charset="0"/>
                <a:ea typeface="Courier New" pitchFamily="34" charset="-122"/>
                <a:cs typeface="Courier New" pitchFamily="34" charset="-120"/>
              </a:rPr>
              <a:t>/v3/dataset</a:t>
            </a:r>
            <a:endParaRPr lang="en-US" sz="1650" dirty="0"/>
          </a:p>
        </p:txBody>
      </p:sp>
      <p:sp>
        <p:nvSpPr>
          <p:cNvPr id="10" name="Shape 7"/>
          <p:cNvSpPr/>
          <p:nvPr/>
        </p:nvSpPr>
        <p:spPr>
          <a:xfrm>
            <a:off x="1028700" y="3680371"/>
            <a:ext cx="2286000" cy="638175"/>
          </a:xfrm>
          <a:prstGeom prst="roundRect">
            <a:avLst>
              <a:gd name="adj" fmla="val 14925"/>
            </a:avLst>
          </a:prstGeom>
          <a:solidFill>
            <a:srgbClr val="53A89B">
              <a:alpha val="14000"/>
            </a:srgbClr>
          </a:solidFill>
          <a:ln w="9525">
            <a:solidFill>
              <a:srgbClr val="C6E3DF"/>
            </a:solidFill>
            <a:prstDash val="solid"/>
          </a:ln>
        </p:spPr>
      </p:sp>
      <p:sp>
        <p:nvSpPr>
          <p:cNvPr id="11" name="Text 8"/>
          <p:cNvSpPr/>
          <p:nvPr/>
        </p:nvSpPr>
        <p:spPr>
          <a:xfrm>
            <a:off x="1247775" y="3861346"/>
            <a:ext cx="1924050" cy="314325"/>
          </a:xfrm>
          <a:prstGeom prst="rect">
            <a:avLst/>
          </a:prstGeom>
          <a:noFill/>
          <a:ln/>
        </p:spPr>
        <p:txBody>
          <a:bodyPr wrap="square" lIns="25400" tIns="25400" rIns="25400" bIns="25400" rtlCol="0" anchor="t">
            <a:normAutofit/>
          </a:bodyPr>
          <a:lstStyle/>
          <a:p>
            <a:pPr algn="l" indent="0" marL="0">
              <a:buNone/>
            </a:pPr>
            <a:r>
              <a:rPr lang="en-US" sz="1650" spc="-6" kern="0" dirty="0">
                <a:solidFill>
                  <a:srgbClr val="152F37"/>
                </a:solidFill>
                <a:latin typeface="Courier New" pitchFamily="34" charset="0"/>
                <a:ea typeface="Courier New" pitchFamily="34" charset="-122"/>
                <a:cs typeface="Courier New" pitchFamily="34" charset="-120"/>
              </a:rPr>
              <a:t>/v3/facet</a:t>
            </a:r>
            <a:endParaRPr lang="en-US" sz="1650" dirty="0"/>
          </a:p>
        </p:txBody>
      </p:sp>
      <p:sp>
        <p:nvSpPr>
          <p:cNvPr id="12" name="Shape 9"/>
          <p:cNvSpPr/>
          <p:nvPr/>
        </p:nvSpPr>
        <p:spPr>
          <a:xfrm>
            <a:off x="1028700" y="4451896"/>
            <a:ext cx="2286000" cy="638175"/>
          </a:xfrm>
          <a:prstGeom prst="roundRect">
            <a:avLst>
              <a:gd name="adj" fmla="val 14925"/>
            </a:avLst>
          </a:prstGeom>
          <a:solidFill>
            <a:srgbClr val="53A89B">
              <a:alpha val="14000"/>
            </a:srgbClr>
          </a:solidFill>
          <a:ln w="9525">
            <a:solidFill>
              <a:srgbClr val="C6E3DF"/>
            </a:solidFill>
            <a:prstDash val="solid"/>
          </a:ln>
        </p:spPr>
      </p:sp>
      <p:sp>
        <p:nvSpPr>
          <p:cNvPr id="13" name="Text 10"/>
          <p:cNvSpPr/>
          <p:nvPr/>
        </p:nvSpPr>
        <p:spPr>
          <a:xfrm>
            <a:off x="1247775" y="4632871"/>
            <a:ext cx="1924050" cy="314325"/>
          </a:xfrm>
          <a:prstGeom prst="rect">
            <a:avLst/>
          </a:prstGeom>
          <a:noFill/>
          <a:ln/>
        </p:spPr>
        <p:txBody>
          <a:bodyPr wrap="square" lIns="25400" tIns="25400" rIns="25400" bIns="25400" rtlCol="0" anchor="t">
            <a:normAutofit/>
          </a:bodyPr>
          <a:lstStyle/>
          <a:p>
            <a:pPr algn="l" indent="0" marL="0">
              <a:buNone/>
            </a:pPr>
            <a:r>
              <a:rPr lang="en-US" sz="1650" spc="-6" kern="0" dirty="0">
                <a:solidFill>
                  <a:srgbClr val="152F37"/>
                </a:solidFill>
                <a:latin typeface="Courier New" pitchFamily="34" charset="0"/>
                <a:ea typeface="Courier New" pitchFamily="34" charset="-122"/>
                <a:cs typeface="Courier New" pitchFamily="34" charset="-120"/>
              </a:rPr>
              <a:t>/v3/occurrence</a:t>
            </a:r>
            <a:endParaRPr lang="en-US" sz="1650" dirty="0"/>
          </a:p>
        </p:txBody>
      </p:sp>
      <p:sp>
        <p:nvSpPr>
          <p:cNvPr id="14" name="Shape 11"/>
          <p:cNvSpPr/>
          <p:nvPr/>
        </p:nvSpPr>
        <p:spPr>
          <a:xfrm>
            <a:off x="1028700" y="5223421"/>
            <a:ext cx="2286000" cy="1466850"/>
          </a:xfrm>
          <a:prstGeom prst="roundRect">
            <a:avLst>
              <a:gd name="adj" fmla="val 6494"/>
            </a:avLst>
          </a:prstGeom>
          <a:solidFill>
            <a:srgbClr val="53A89B">
              <a:alpha val="14000"/>
            </a:srgbClr>
          </a:solidFill>
          <a:ln w="9525">
            <a:solidFill>
              <a:srgbClr val="C6E3DF"/>
            </a:solidFill>
            <a:prstDash val="solid"/>
          </a:ln>
        </p:spPr>
      </p:sp>
      <p:sp>
        <p:nvSpPr>
          <p:cNvPr id="15" name="Text 12"/>
          <p:cNvSpPr/>
          <p:nvPr/>
        </p:nvSpPr>
        <p:spPr>
          <a:xfrm>
            <a:off x="1247775" y="5404396"/>
            <a:ext cx="1924050" cy="1143000"/>
          </a:xfrm>
          <a:prstGeom prst="rect">
            <a:avLst/>
          </a:prstGeom>
          <a:noFill/>
          <a:ln/>
        </p:spPr>
        <p:txBody>
          <a:bodyPr wrap="square" lIns="25400" tIns="25400" rIns="25400" bIns="25400" rtlCol="0" anchor="t">
            <a:normAutofit/>
          </a:bodyPr>
          <a:lstStyle/>
          <a:p>
            <a:pPr algn="l" indent="0" marL="0">
              <a:buNone/>
            </a:pPr>
            <a:r>
              <a:rPr lang="en-US" sz="1650" spc="-6" kern="0" dirty="0">
                <a:solidFill>
                  <a:srgbClr val="152F37"/>
                </a:solidFill>
                <a:highlight>
                  <a:srgbClr val="53A89B"/>
                </a:highlight>
                <a:latin typeface="Courier New" pitchFamily="34" charset="0"/>
                <a:ea typeface="Courier New" pitchFamily="34" charset="-122"/>
                <a:cs typeface="Courier New" pitchFamily="34" charset="-120"/>
              </a:rPr>
              <a:t>obis-open-data.s3 </a:t>
            </a:r>
            <a:pPr algn="l" indent="0" marL="0">
              <a:buNone/>
            </a:pPr>
            <a:r>
              <a:rPr lang="en-US" sz="1350" spc="-6" kern="0" dirty="0">
                <a:solidFill>
                  <a:srgbClr val="5B6B6E"/>
                </a:solidFill>
                <a:latin typeface="Courier New" pitchFamily="34" charset="0"/>
                <a:ea typeface="Courier New" pitchFamily="34" charset="-122"/>
                <a:cs typeface="Courier New" pitchFamily="34" charset="-120"/>
              </a:rPr>
              <a:t>per-dataset Parquet</a:t>
            </a:r>
            <a:endParaRPr lang="en-US" sz="1650" dirty="0"/>
          </a:p>
        </p:txBody>
      </p:sp>
      <p:sp>
        <p:nvSpPr>
          <p:cNvPr id="16" name="Text 13"/>
          <p:cNvSpPr/>
          <p:nvPr/>
        </p:nvSpPr>
        <p:spPr>
          <a:xfrm>
            <a:off x="3276600" y="2737396"/>
            <a:ext cx="647700" cy="5515124"/>
          </a:xfrm>
          <a:prstGeom prst="rect">
            <a:avLst/>
          </a:prstGeom>
          <a:noFill/>
          <a:ln/>
        </p:spPr>
        <p:txBody>
          <a:bodyPr wrap="square" lIns="25400" tIns="25400" rIns="25400" bIns="25400" rtlCol="0" anchor="ctr">
            <a:normAutofit/>
          </a:bodyPr>
          <a:lstStyle/>
          <a:p>
            <a:pPr algn="ctr" indent="0" marL="0">
              <a:buNone/>
            </a:pPr>
            <a:r>
              <a:rPr lang="en-US" sz="2700" b="1" spc="-6" kern="0" dirty="0">
                <a:solidFill>
                  <a:srgbClr val="53A89B"/>
                </a:solidFill>
                <a:latin typeface="Courier New" pitchFamily="34" charset="0"/>
                <a:ea typeface="Courier New" pitchFamily="34" charset="-122"/>
                <a:cs typeface="Courier New" pitchFamily="34" charset="-120"/>
              </a:rPr>
              <a:t>→</a:t>
            </a:r>
            <a:endParaRPr lang="en-US" sz="2700" dirty="0"/>
          </a:p>
        </p:txBody>
      </p:sp>
      <p:sp>
        <p:nvSpPr>
          <p:cNvPr id="17" name="Text 14"/>
          <p:cNvSpPr/>
          <p:nvPr/>
        </p:nvSpPr>
        <p:spPr>
          <a:xfrm>
            <a:off x="3886200" y="2394496"/>
            <a:ext cx="11406070" cy="247650"/>
          </a:xfrm>
          <a:prstGeom prst="rect">
            <a:avLst/>
          </a:prstGeom>
          <a:noFill/>
          <a:ln/>
        </p:spPr>
        <p:txBody>
          <a:bodyPr wrap="square" lIns="25400" tIns="25400" rIns="25400" bIns="25400" rtlCol="0" anchor="t">
            <a:normAutofit/>
          </a:bodyPr>
          <a:lstStyle/>
          <a:p>
            <a:pPr algn="l" indent="0" marL="0">
              <a:buNone/>
            </a:pPr>
            <a:r>
              <a:rPr lang="en-US" sz="1350" b="1" spc="297" kern="0" dirty="0">
                <a:solidFill>
                  <a:srgbClr val="5B6B6E"/>
                </a:solidFill>
                <a:latin typeface="Arial" pitchFamily="34" charset="0"/>
                <a:ea typeface="Arial" pitchFamily="34" charset="-122"/>
                <a:cs typeface="Arial" pitchFamily="34" charset="-120"/>
              </a:rPr>
              <a:t>CIOOS · PIPELINES</a:t>
            </a:r>
            <a:endParaRPr lang="en-US" sz="1350" dirty="0"/>
          </a:p>
        </p:txBody>
      </p:sp>
      <p:sp>
        <p:nvSpPr>
          <p:cNvPr id="18" name="Shape 15"/>
          <p:cNvSpPr/>
          <p:nvPr/>
        </p:nvSpPr>
        <p:spPr>
          <a:xfrm>
            <a:off x="3886200" y="2908846"/>
            <a:ext cx="11073854" cy="2586038"/>
          </a:xfrm>
          <a:prstGeom prst="roundRect">
            <a:avLst>
              <a:gd name="adj" fmla="val 3683"/>
            </a:avLst>
          </a:prstGeom>
          <a:solidFill>
            <a:srgbClr val="152F37"/>
          </a:solidFill>
          <a:ln w="9525">
            <a:solidFill>
              <a:srgbClr val="152F37"/>
            </a:solidFill>
            <a:prstDash val="solid"/>
          </a:ln>
        </p:spPr>
      </p:sp>
      <p:sp>
        <p:nvSpPr>
          <p:cNvPr id="19" name="Text 16"/>
          <p:cNvSpPr/>
          <p:nvPr/>
        </p:nvSpPr>
        <p:spPr>
          <a:xfrm>
            <a:off x="4143375" y="3127921"/>
            <a:ext cx="10876289" cy="371475"/>
          </a:xfrm>
          <a:prstGeom prst="rect">
            <a:avLst/>
          </a:prstGeom>
          <a:noFill/>
          <a:ln/>
        </p:spPr>
        <p:txBody>
          <a:bodyPr wrap="square" lIns="25400" tIns="25400" rIns="25400" bIns="25400" rtlCol="0" anchor="t">
            <a:normAutofit/>
          </a:bodyPr>
          <a:lstStyle/>
          <a:p>
            <a:pPr algn="l" indent="0" marL="0">
              <a:buNone/>
            </a:pPr>
            <a:r>
              <a:rPr lang="en-US" sz="1950" b="1" spc="39" kern="0" dirty="0">
                <a:solidFill>
                  <a:srgbClr val="C6E3DF"/>
                </a:solidFill>
                <a:latin typeface="Courier New" pitchFamily="34" charset="0"/>
                <a:ea typeface="Courier New" pitchFamily="34" charset="-122"/>
                <a:cs typeface="Courier New" pitchFamily="34" charset="-120"/>
              </a:rPr>
              <a:t>OBISHarvester</a:t>
            </a:r>
            <a:endParaRPr lang="en-US" sz="1950" dirty="0"/>
          </a:p>
        </p:txBody>
      </p:sp>
      <p:sp>
        <p:nvSpPr>
          <p:cNvPr id="20" name="Text 17"/>
          <p:cNvSpPr/>
          <p:nvPr/>
        </p:nvSpPr>
        <p:spPr>
          <a:xfrm>
            <a:off x="4143375" y="3537496"/>
            <a:ext cx="10876289"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spc="-6" kern="0" dirty="0">
                <a:solidFill>
                  <a:srgbClr val="FFFFFF">
                    <a:alpha val="78000"/>
                  </a:srgbClr>
                </a:solidFill>
                <a:latin typeface="Courier New" pitchFamily="34" charset="0"/>
                <a:ea typeface="Courier New" pitchFamily="34" charset="-122"/>
                <a:cs typeface="Courier New" pitchFamily="34" charset="-120"/>
              </a:rPr>
              <a:t>Parquet → REST fallback → ObisGeoFilter (EEZ-exempt OBIS-CA / OTN) → ¹⁄₁₂° grid → _enrich_with_ckan</a:t>
            </a:r>
            <a:endParaRPr lang="en-US" sz="1500" dirty="0"/>
          </a:p>
        </p:txBody>
      </p:sp>
      <p:sp>
        <p:nvSpPr>
          <p:cNvPr id="21" name="Shape 18"/>
          <p:cNvSpPr/>
          <p:nvPr/>
        </p:nvSpPr>
        <p:spPr>
          <a:xfrm>
            <a:off x="3886200" y="5628233"/>
            <a:ext cx="11073854" cy="2586186"/>
          </a:xfrm>
          <a:prstGeom prst="roundRect">
            <a:avLst>
              <a:gd name="adj" fmla="val 3683"/>
            </a:avLst>
          </a:prstGeom>
          <a:solidFill>
            <a:srgbClr val="152F37"/>
          </a:solidFill>
          <a:ln w="9525">
            <a:solidFill>
              <a:srgbClr val="152F37"/>
            </a:solidFill>
            <a:prstDash val="solid"/>
          </a:ln>
        </p:spPr>
      </p:sp>
      <p:sp>
        <p:nvSpPr>
          <p:cNvPr id="22" name="Text 19"/>
          <p:cNvSpPr/>
          <p:nvPr/>
        </p:nvSpPr>
        <p:spPr>
          <a:xfrm>
            <a:off x="4143375" y="5847308"/>
            <a:ext cx="10876289" cy="371475"/>
          </a:xfrm>
          <a:prstGeom prst="rect">
            <a:avLst/>
          </a:prstGeom>
          <a:noFill/>
          <a:ln/>
        </p:spPr>
        <p:txBody>
          <a:bodyPr wrap="square" lIns="25400" tIns="25400" rIns="25400" bIns="25400" rtlCol="0" anchor="t">
            <a:normAutofit/>
          </a:bodyPr>
          <a:lstStyle/>
          <a:p>
            <a:pPr algn="l" indent="0" marL="0">
              <a:buNone/>
            </a:pPr>
            <a:r>
              <a:rPr lang="en-US" sz="1950" b="1" spc="39" kern="0" dirty="0">
                <a:solidFill>
                  <a:srgbClr val="C6E3DF"/>
                </a:solidFill>
                <a:latin typeface="Courier New" pitchFamily="34" charset="0"/>
                <a:ea typeface="Courier New" pitchFamily="34" charset="-122"/>
                <a:cs typeface="Courier New" pitchFamily="34" charset="-120"/>
              </a:rPr>
              <a:t>load_from.obis</a:t>
            </a:r>
            <a:endParaRPr lang="en-US" sz="1950" dirty="0"/>
          </a:p>
        </p:txBody>
      </p:sp>
      <p:sp>
        <p:nvSpPr>
          <p:cNvPr id="23" name="Text 20"/>
          <p:cNvSpPr/>
          <p:nvPr/>
        </p:nvSpPr>
        <p:spPr>
          <a:xfrm>
            <a:off x="4143375" y="6256883"/>
            <a:ext cx="10876289"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spc="-6" kern="0" dirty="0">
                <a:solidFill>
                  <a:srgbClr val="FFFFFF">
                    <a:alpha val="78000"/>
                  </a:srgbClr>
                </a:solidFill>
                <a:latin typeface="Courier New" pitchFamily="34" charset="0"/>
                <a:ea typeface="Courier New" pitchFamily="34" charset="-122"/>
                <a:cs typeface="Courier New" pitchFamily="34" charset="-120"/>
              </a:rPr>
              <a:t>map_obis_to_cioos · fetch_eovs_from_taxonomy + measurements · fetch_platforms_from_obis → ISO 19115-3 XML</a:t>
            </a:r>
            <a:endParaRPr lang="en-US" sz="1500" dirty="0"/>
          </a:p>
        </p:txBody>
      </p:sp>
      <p:sp>
        <p:nvSpPr>
          <p:cNvPr id="24" name="Text 21"/>
          <p:cNvSpPr/>
          <p:nvPr/>
        </p:nvSpPr>
        <p:spPr>
          <a:xfrm>
            <a:off x="14921954" y="2737396"/>
            <a:ext cx="647700" cy="5515124"/>
          </a:xfrm>
          <a:prstGeom prst="rect">
            <a:avLst/>
          </a:prstGeom>
          <a:noFill/>
          <a:ln/>
        </p:spPr>
        <p:txBody>
          <a:bodyPr wrap="square" lIns="25400" tIns="25400" rIns="25400" bIns="25400" rtlCol="0" anchor="ctr">
            <a:normAutofit/>
          </a:bodyPr>
          <a:lstStyle/>
          <a:p>
            <a:pPr algn="ctr" indent="0" marL="0">
              <a:buNone/>
            </a:pPr>
            <a:r>
              <a:rPr lang="en-US" sz="2700" b="1" spc="-6" kern="0" dirty="0">
                <a:solidFill>
                  <a:srgbClr val="53A89B"/>
                </a:solidFill>
                <a:latin typeface="Courier New" pitchFamily="34" charset="0"/>
                <a:ea typeface="Courier New" pitchFamily="34" charset="-122"/>
                <a:cs typeface="Courier New" pitchFamily="34" charset="-120"/>
              </a:rPr>
              <a:t>→</a:t>
            </a:r>
            <a:endParaRPr lang="en-US" sz="2700" dirty="0"/>
          </a:p>
        </p:txBody>
      </p:sp>
      <p:sp>
        <p:nvSpPr>
          <p:cNvPr id="25" name="Text 22"/>
          <p:cNvSpPr/>
          <p:nvPr/>
        </p:nvSpPr>
        <p:spPr>
          <a:xfrm>
            <a:off x="15531554" y="2394496"/>
            <a:ext cx="2747010" cy="247650"/>
          </a:xfrm>
          <a:prstGeom prst="rect">
            <a:avLst/>
          </a:prstGeom>
          <a:noFill/>
          <a:ln/>
        </p:spPr>
        <p:txBody>
          <a:bodyPr wrap="square" lIns="25400" tIns="25400" rIns="25400" bIns="25400" rtlCol="0" anchor="t">
            <a:normAutofit/>
          </a:bodyPr>
          <a:lstStyle/>
          <a:p>
            <a:pPr algn="l" indent="0" marL="0">
              <a:buNone/>
            </a:pPr>
            <a:r>
              <a:rPr lang="en-US" sz="1350" b="1" spc="297" kern="0" dirty="0">
                <a:solidFill>
                  <a:srgbClr val="5B6B6E"/>
                </a:solidFill>
                <a:latin typeface="Arial" pitchFamily="34" charset="0"/>
                <a:ea typeface="Arial" pitchFamily="34" charset="-122"/>
                <a:cs typeface="Arial" pitchFamily="34" charset="-120"/>
              </a:rPr>
              <a:t>CIOOS · SURFACES</a:t>
            </a:r>
            <a:endParaRPr lang="en-US" sz="1350" dirty="0"/>
          </a:p>
        </p:txBody>
      </p:sp>
      <p:sp>
        <p:nvSpPr>
          <p:cNvPr id="26" name="Shape 23"/>
          <p:cNvSpPr/>
          <p:nvPr/>
        </p:nvSpPr>
        <p:spPr>
          <a:xfrm>
            <a:off x="15531554" y="2908846"/>
            <a:ext cx="2667000" cy="1447800"/>
          </a:xfrm>
          <a:prstGeom prst="roundRect">
            <a:avLst>
              <a:gd name="adj" fmla="val 6579"/>
            </a:avLst>
          </a:prstGeom>
          <a:solidFill>
            <a:srgbClr val="FFFDF7"/>
          </a:solidFill>
          <a:ln w="19050">
            <a:solidFill>
              <a:srgbClr val="53A89B"/>
            </a:solidFill>
            <a:prstDash val="solid"/>
          </a:ln>
        </p:spPr>
      </p:sp>
      <p:sp>
        <p:nvSpPr>
          <p:cNvPr id="27" name="Text 24"/>
          <p:cNvSpPr/>
          <p:nvPr/>
        </p:nvSpPr>
        <p:spPr>
          <a:xfrm>
            <a:off x="15779204" y="3175546"/>
            <a:ext cx="2247900" cy="400050"/>
          </a:xfrm>
          <a:prstGeom prst="rect">
            <a:avLst/>
          </a:prstGeom>
          <a:noFill/>
          <a:ln/>
        </p:spPr>
        <p:txBody>
          <a:bodyPr wrap="square" lIns="25400" tIns="25400" rIns="25400" bIns="25400" rtlCol="0" anchor="t">
            <a:normAutofit/>
          </a:bodyPr>
          <a:lstStyle/>
          <a:p>
            <a:pPr algn="l" indent="0" marL="0">
              <a:buNone/>
            </a:pPr>
            <a:r>
              <a:rPr lang="en-US" sz="2250" b="1" spc="-6" kern="0" dirty="0">
                <a:solidFill>
                  <a:srgbClr val="152F37"/>
                </a:solidFill>
                <a:latin typeface="Arial" pitchFamily="34" charset="0"/>
                <a:ea typeface="Arial" pitchFamily="34" charset="-122"/>
                <a:cs typeface="Arial" pitchFamily="34" charset="-120"/>
              </a:rPr>
              <a:t>Data Explorer</a:t>
            </a:r>
            <a:endParaRPr lang="en-US" sz="2250" dirty="0"/>
          </a:p>
        </p:txBody>
      </p:sp>
      <p:sp>
        <p:nvSpPr>
          <p:cNvPr id="28" name="Text 25"/>
          <p:cNvSpPr/>
          <p:nvPr/>
        </p:nvSpPr>
        <p:spPr>
          <a:xfrm>
            <a:off x="15779204" y="3594646"/>
            <a:ext cx="2247900" cy="533400"/>
          </a:xfrm>
          <a:prstGeom prst="rect">
            <a:avLst/>
          </a:prstGeom>
          <a:noFill/>
          <a:ln/>
        </p:spPr>
        <p:txBody>
          <a:bodyPr wrap="square" lIns="25400" tIns="25400" rIns="25400" bIns="25400" rtlCol="0" anchor="t">
            <a:normAutofit/>
          </a:bodyPr>
          <a:lstStyle/>
          <a:p>
            <a:pPr algn="l" indent="0" marL="0">
              <a:buNone/>
            </a:pPr>
            <a:r>
              <a:rPr lang="en-US" sz="1500" spc="-6" kern="0" dirty="0">
                <a:solidFill>
                  <a:srgbClr val="5B6B6E"/>
                </a:solidFill>
                <a:latin typeface="Courier New" pitchFamily="34" charset="0"/>
                <a:ea typeface="Courier New" pitchFamily="34" charset="-122"/>
                <a:cs typeface="Courier New" pitchFamily="34" charset="-120"/>
              </a:rPr>
              <a:t>map · filters · sort · download</a:t>
            </a:r>
            <a:endParaRPr lang="en-US" sz="1500" dirty="0"/>
          </a:p>
        </p:txBody>
      </p:sp>
      <p:sp>
        <p:nvSpPr>
          <p:cNvPr id="29" name="Shape 26"/>
          <p:cNvSpPr/>
          <p:nvPr/>
        </p:nvSpPr>
        <p:spPr>
          <a:xfrm>
            <a:off x="15531554" y="4489996"/>
            <a:ext cx="2667000" cy="1809750"/>
          </a:xfrm>
          <a:prstGeom prst="roundRect">
            <a:avLst>
              <a:gd name="adj" fmla="val 5263"/>
            </a:avLst>
          </a:prstGeom>
          <a:solidFill>
            <a:srgbClr val="FFFDF7"/>
          </a:solidFill>
          <a:ln w="19050">
            <a:solidFill>
              <a:srgbClr val="53A89B"/>
            </a:solidFill>
            <a:prstDash val="solid"/>
          </a:ln>
        </p:spPr>
      </p:sp>
      <p:sp>
        <p:nvSpPr>
          <p:cNvPr id="30" name="Text 27"/>
          <p:cNvSpPr/>
          <p:nvPr/>
        </p:nvSpPr>
        <p:spPr>
          <a:xfrm>
            <a:off x="15779204" y="4756696"/>
            <a:ext cx="2247900" cy="762000"/>
          </a:xfrm>
          <a:prstGeom prst="rect">
            <a:avLst/>
          </a:prstGeom>
          <a:noFill/>
          <a:ln/>
        </p:spPr>
        <p:txBody>
          <a:bodyPr wrap="square" lIns="25400" tIns="25400" rIns="25400" bIns="25400" rtlCol="0" anchor="t">
            <a:normAutofit/>
          </a:bodyPr>
          <a:lstStyle/>
          <a:p>
            <a:pPr algn="l" indent="0" marL="0">
              <a:buNone/>
            </a:pPr>
            <a:r>
              <a:rPr lang="en-US" sz="2250" b="1" spc="-6" kern="0" dirty="0">
                <a:solidFill>
                  <a:srgbClr val="152F37"/>
                </a:solidFill>
                <a:latin typeface="Arial" pitchFamily="34" charset="0"/>
                <a:ea typeface="Arial" pitchFamily="34" charset="-122"/>
                <a:cs typeface="Arial" pitchFamily="34" charset="-120"/>
              </a:rPr>
              <a:t>CKAN catalogue</a:t>
            </a:r>
            <a:endParaRPr lang="en-US" sz="2250" dirty="0"/>
          </a:p>
        </p:txBody>
      </p:sp>
      <p:sp>
        <p:nvSpPr>
          <p:cNvPr id="31" name="Text 28"/>
          <p:cNvSpPr/>
          <p:nvPr/>
        </p:nvSpPr>
        <p:spPr>
          <a:xfrm>
            <a:off x="15779204" y="5537746"/>
            <a:ext cx="2247900" cy="533400"/>
          </a:xfrm>
          <a:prstGeom prst="rect">
            <a:avLst/>
          </a:prstGeom>
          <a:noFill/>
          <a:ln/>
        </p:spPr>
        <p:txBody>
          <a:bodyPr wrap="square" lIns="25400" tIns="25400" rIns="25400" bIns="25400" rtlCol="0" anchor="t">
            <a:normAutofit/>
          </a:bodyPr>
          <a:lstStyle/>
          <a:p>
            <a:pPr algn="l" indent="0" marL="0">
              <a:buNone/>
            </a:pPr>
            <a:r>
              <a:rPr lang="en-US" sz="1500" spc="-6" kern="0" dirty="0">
                <a:solidFill>
                  <a:srgbClr val="5B6B6E"/>
                </a:solidFill>
                <a:latin typeface="Courier New" pitchFamily="34" charset="0"/>
                <a:ea typeface="Courier New" pitchFamily="34" charset="-122"/>
                <a:cs typeface="Courier New" pitchFamily="34" charset="-120"/>
              </a:rPr>
              <a:t>ISO 19115-3 metadata records</a:t>
            </a:r>
            <a:endParaRPr lang="en-US" sz="1500" dirty="0"/>
          </a:p>
        </p:txBody>
      </p:sp>
      <p:sp>
        <p:nvSpPr>
          <p:cNvPr id="32" name="Shape 29"/>
          <p:cNvSpPr/>
          <p:nvPr/>
        </p:nvSpPr>
        <p:spPr>
          <a:xfrm>
            <a:off x="1028700" y="8385870"/>
            <a:ext cx="16230600" cy="948630"/>
          </a:xfrm>
          <a:prstGeom prst="roundRect">
            <a:avLst>
              <a:gd name="adj" fmla="val 10041"/>
            </a:avLst>
          </a:prstGeom>
          <a:solidFill>
            <a:srgbClr val="53A89B">
              <a:alpha val="6000"/>
            </a:srgbClr>
          </a:solidFill>
          <a:ln w="9525">
            <a:solidFill>
              <a:srgbClr val="53A89B">
                <a:alpha val="50000"/>
              </a:srgbClr>
            </a:solidFill>
            <a:prstDash val="dash"/>
          </a:ln>
        </p:spPr>
      </p:sp>
      <p:sp>
        <p:nvSpPr>
          <p:cNvPr id="33" name="Text 30"/>
          <p:cNvSpPr/>
          <p:nvPr/>
        </p:nvSpPr>
        <p:spPr>
          <a:xfrm>
            <a:off x="1266825" y="8566845"/>
            <a:ext cx="16241268"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b="1" spc="33" kern="0" dirty="0">
                <a:solidFill>
                  <a:srgbClr val="53A89B"/>
                </a:solidFill>
                <a:latin typeface="Courier New" pitchFamily="34" charset="0"/>
                <a:ea typeface="Courier New" pitchFamily="34" charset="-122"/>
                <a:cs typeface="Courier New" pitchFamily="34" charset="-120"/>
              </a:rPr>
              <a:t>↩ Feedback edge: </a:t>
            </a:r>
            <a:pPr algn="l" indent="0" marL="0">
              <a:lnSpc>
                <a:spcPct val="140000"/>
              </a:lnSpc>
              <a:buNone/>
            </a:pPr>
            <a:r>
              <a:rPr lang="en-US" sz="1650" spc="33" kern="0" dirty="0">
                <a:solidFill>
                  <a:srgbClr val="152F37"/>
                </a:solidFill>
                <a:highlight>
                  <a:srgbClr val="53A89B"/>
                </a:highlight>
                <a:latin typeface="Courier New" pitchFamily="34" charset="0"/>
                <a:ea typeface="Courier New" pitchFamily="34" charset="-122"/>
                <a:cs typeface="Courier New" pitchFamily="34" charset="-120"/>
              </a:rPr>
              <a:t>CKAN's curated EOVs &amp; French titles loop back into OBISHarvester via _enrich_with_ckan. </a:t>
            </a:r>
            <a:pPr algn="l" indent="0" marL="0">
              <a:lnSpc>
                <a:spcPct val="140000"/>
              </a:lnSpc>
              <a:buNone/>
            </a:pPr>
            <a:r>
              <a:rPr lang="en-US" sz="1650" b="1" spc="33" kern="0" dirty="0">
                <a:solidFill>
                  <a:srgbClr val="53A89B"/>
                </a:solidFill>
                <a:latin typeface="Courier New" pitchFamily="34" charset="0"/>
                <a:ea typeface="Courier New" pitchFamily="34" charset="-122"/>
                <a:cs typeface="Courier New" pitchFamily="34" charset="-120"/>
              </a:rPr>
              <a:t>↗ Download edge: </a:t>
            </a:r>
            <a:pPr algn="l" indent="0" marL="0">
              <a:lnSpc>
                <a:spcPct val="140000"/>
              </a:lnSpc>
              <a:buNone/>
            </a:pPr>
            <a:r>
              <a:rPr lang="en-US" sz="1650" spc="33" kern="0" dirty="0">
                <a:solidFill>
                  <a:srgbClr val="152F37"/>
                </a:solidFill>
                <a:highlight>
                  <a:srgbClr val="53A89B"/>
                </a:highlight>
                <a:latin typeface="Courier New" pitchFamily="34" charset="0"/>
                <a:ea typeface="Courier New" pitchFamily="34" charset="-122"/>
                <a:cs typeface="Courier New" pitchFamily="34" charset="-120"/>
              </a:rPr>
              <a:t>Data Explorer download buttons resolve to the OBIS dataset page, not a local file.</a:t>
            </a:r>
            <a:endParaRPr lang="en-US" sz="1650" dirty="0"/>
          </a:p>
        </p:txBody>
      </p:sp>
      <p:sp>
        <p:nvSpPr>
          <p:cNvPr id="34" name="Text 31"/>
          <p:cNvSpPr/>
          <p:nvPr/>
        </p:nvSpPr>
        <p:spPr>
          <a:xfrm>
            <a:off x="1028700" y="9648825"/>
            <a:ext cx="4007538"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HOW IT WORKS · 08 OF 16</a:t>
            </a:r>
            <a:endParaRPr lang="en-US" sz="1800" dirty="0"/>
          </a:p>
        </p:txBody>
      </p:sp>
      <p:sp>
        <p:nvSpPr>
          <p:cNvPr id="35" name="Text 32"/>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883360" y="481012"/>
            <a:ext cx="452140"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09</a:t>
            </a:r>
            <a:endParaRPr lang="en-US" sz="1800" dirty="0"/>
          </a:p>
        </p:txBody>
      </p:sp>
      <p:sp>
        <p:nvSpPr>
          <p:cNvPr id="5" name="Shape 2"/>
          <p:cNvSpPr/>
          <p:nvPr/>
        </p:nvSpPr>
        <p:spPr>
          <a:xfrm>
            <a:off x="1028700" y="876300"/>
            <a:ext cx="1473845" cy="428625"/>
          </a:xfrm>
          <a:prstGeom prst="roundRect">
            <a:avLst>
              <a:gd name="adj" fmla="val 50000"/>
            </a:avLst>
          </a:prstGeom>
          <a:solidFill>
            <a:srgbClr val="53A89B"/>
          </a:solidFill>
          <a:ln/>
        </p:spPr>
      </p:sp>
      <p:sp>
        <p:nvSpPr>
          <p:cNvPr id="6" name="Text 3"/>
          <p:cNvSpPr/>
          <p:nvPr/>
        </p:nvSpPr>
        <p:spPr>
          <a:xfrm>
            <a:off x="1162050" y="952500"/>
            <a:ext cx="1283345"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FFFFFF"/>
                </a:solidFill>
                <a:latin typeface="Courier New" pitchFamily="34" charset="0"/>
                <a:ea typeface="Courier New" pitchFamily="34" charset="-122"/>
                <a:cs typeface="Courier New" pitchFamily="34" charset="-120"/>
              </a:rPr>
              <a:t>PIPELINE</a:t>
            </a:r>
            <a:endParaRPr lang="en-US" sz="1650" dirty="0"/>
          </a:p>
        </p:txBody>
      </p:sp>
      <p:sp>
        <p:nvSpPr>
          <p:cNvPr id="7" name="Text 4"/>
          <p:cNvSpPr/>
          <p:nvPr/>
        </p:nvSpPr>
        <p:spPr>
          <a:xfrm>
            <a:off x="2654945" y="942975"/>
            <a:ext cx="3937483"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B6B6E"/>
                </a:solidFill>
                <a:latin typeface="Courier New" pitchFamily="34" charset="0"/>
                <a:ea typeface="Courier New" pitchFamily="34" charset="-122"/>
                <a:cs typeface="Courier New" pitchFamily="34" charset="-120"/>
              </a:rPr>
              <a:t>METADATA · OBIS → CKAN</a:t>
            </a:r>
            <a:endParaRPr lang="en-US" sz="1800" dirty="0"/>
          </a:p>
        </p:txBody>
      </p:sp>
      <p:sp>
        <p:nvSpPr>
          <p:cNvPr id="8" name="Shape 5"/>
          <p:cNvSpPr/>
          <p:nvPr/>
        </p:nvSpPr>
        <p:spPr>
          <a:xfrm>
            <a:off x="1028700" y="1638300"/>
            <a:ext cx="3794522" cy="695325"/>
          </a:xfrm>
          <a:prstGeom prst="roundRect">
            <a:avLst>
              <a:gd name="adj" fmla="val 10959"/>
            </a:avLst>
          </a:prstGeom>
          <a:solidFill>
            <a:srgbClr val="53A89B">
              <a:alpha val="16000"/>
            </a:srgbClr>
          </a:solidFill>
          <a:ln/>
        </p:spPr>
      </p:sp>
      <p:sp>
        <p:nvSpPr>
          <p:cNvPr id="9" name="Text 6"/>
          <p:cNvSpPr/>
          <p:nvPr/>
        </p:nvSpPr>
        <p:spPr>
          <a:xfrm>
            <a:off x="1162050" y="1695450"/>
            <a:ext cx="3641658" cy="619125"/>
          </a:xfrm>
          <a:prstGeom prst="rect">
            <a:avLst/>
          </a:prstGeom>
          <a:noFill/>
          <a:ln/>
        </p:spPr>
        <p:txBody>
          <a:bodyPr wrap="square" lIns="25400" tIns="25400" rIns="25400" bIns="25400" rtlCol="0" anchor="t">
            <a:normAutofit/>
          </a:bodyPr>
          <a:lstStyle/>
          <a:p>
            <a:pPr algn="l" indent="0" marL="0">
              <a:lnSpc>
                <a:spcPct val="104000"/>
              </a:lnSpc>
              <a:buNone/>
            </a:pPr>
            <a:r>
              <a:rPr lang="en-US" sz="3442" b="1" spc="-81" kern="0" dirty="0">
                <a:solidFill>
                  <a:srgbClr val="152F37"/>
                </a:solidFill>
                <a:latin typeface="Courier New" pitchFamily="34" charset="0"/>
                <a:ea typeface="Courier New" pitchFamily="34" charset="-122"/>
                <a:cs typeface="Courier New" pitchFamily="34" charset="-120"/>
              </a:rPr>
              <a:t>load_from.obis</a:t>
            </a:r>
            <a:endParaRPr lang="en-US" sz="3442" dirty="0"/>
          </a:p>
        </p:txBody>
      </p:sp>
      <p:sp>
        <p:nvSpPr>
          <p:cNvPr id="10" name="Text 7"/>
          <p:cNvSpPr/>
          <p:nvPr/>
        </p:nvSpPr>
        <p:spPr>
          <a:xfrm>
            <a:off x="1028700" y="2735163"/>
            <a:ext cx="7661583"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spc="-6" kern="0" dirty="0">
                <a:solidFill>
                  <a:srgbClr val="152F37"/>
                </a:solidFill>
                <a:latin typeface="Arial" pitchFamily="34" charset="0"/>
                <a:ea typeface="Arial" pitchFamily="34" charset="-122"/>
                <a:cs typeface="Arial" pitchFamily="34" charset="-120"/>
              </a:rPr>
              <a:t>A mapper from OBIS dataset payloads to CIOOS schema — ready for the ISO 19115-3 pipeline.</a:t>
            </a:r>
            <a:endParaRPr lang="en-US" sz="2250" dirty="0"/>
          </a:p>
        </p:txBody>
      </p:sp>
      <p:sp>
        <p:nvSpPr>
          <p:cNvPr id="11" name="Text 8"/>
          <p:cNvSpPr/>
          <p:nvPr/>
        </p:nvSpPr>
        <p:spPr>
          <a:xfrm>
            <a:off x="1371600" y="3878163"/>
            <a:ext cx="7318683"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Title, abstract, license, keywords, contacts.</a:t>
            </a:r>
            <a:endParaRPr lang="en-US" sz="2250" dirty="0"/>
          </a:p>
        </p:txBody>
      </p:sp>
      <p:sp>
        <p:nvSpPr>
          <p:cNvPr id="12" name="Text 9"/>
          <p:cNvSpPr/>
          <p:nvPr/>
        </p:nvSpPr>
        <p:spPr>
          <a:xfrm>
            <a:off x="1371600" y="4492526"/>
            <a:ext cx="7318683"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b="1" spc="-6" kern="0" dirty="0">
                <a:solidFill>
                  <a:srgbClr val="152F37"/>
                </a:solidFill>
                <a:latin typeface="Arial" pitchFamily="34" charset="0"/>
                <a:ea typeface="Arial" pitchFamily="34" charset="-122"/>
                <a:cs typeface="Arial" pitchFamily="34" charset="-120"/>
              </a:rPr>
              <a:t>Spatial extent </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 parses OBIS </a:t>
            </a:r>
            <a:pPr algn="l" indent="0" marL="0">
              <a:lnSpc>
                <a:spcPct val="135000"/>
              </a:lnSpc>
              <a:buNone/>
            </a:pPr>
            <a:r>
              <a:rPr lang="en-US" sz="1935" spc="-6" kern="0" dirty="0">
                <a:solidFill>
                  <a:srgbClr val="152F37"/>
                </a:solidFill>
                <a:highlight>
                  <a:srgbClr val="53A89B"/>
                </a:highlight>
                <a:latin typeface="Courier New" pitchFamily="34" charset="0"/>
                <a:ea typeface="Courier New" pitchFamily="34" charset="-122"/>
                <a:cs typeface="Courier New" pitchFamily="34" charset="-120"/>
              </a:rPr>
              <a:t>POLYGON </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WKT.</a:t>
            </a:r>
            <a:endParaRPr lang="en-US" sz="2250" dirty="0"/>
          </a:p>
        </p:txBody>
      </p:sp>
      <p:sp>
        <p:nvSpPr>
          <p:cNvPr id="13" name="Text 10"/>
          <p:cNvSpPr/>
          <p:nvPr/>
        </p:nvSpPr>
        <p:spPr>
          <a:xfrm>
            <a:off x="1371600" y="5106888"/>
            <a:ext cx="7318683"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b="1" spc="-6" kern="0" dirty="0">
                <a:solidFill>
                  <a:srgbClr val="152F37"/>
                </a:solidFill>
                <a:latin typeface="Arial" pitchFamily="34" charset="0"/>
                <a:ea typeface="Arial" pitchFamily="34" charset="-122"/>
                <a:cs typeface="Arial" pitchFamily="34" charset="-120"/>
              </a:rPr>
              <a:t>EOVs </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 taxonomy + eMoF, gated (next slide).</a:t>
            </a:r>
            <a:endParaRPr lang="en-US" sz="2250" dirty="0"/>
          </a:p>
        </p:txBody>
      </p:sp>
      <p:sp>
        <p:nvSpPr>
          <p:cNvPr id="14" name="Text 11"/>
          <p:cNvSpPr/>
          <p:nvPr/>
        </p:nvSpPr>
        <p:spPr>
          <a:xfrm>
            <a:off x="1371600" y="5721251"/>
            <a:ext cx="7318683"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b="1" spc="-6" kern="0" dirty="0">
                <a:solidFill>
                  <a:srgbClr val="152F37"/>
                </a:solidFill>
                <a:latin typeface="Arial" pitchFamily="34" charset="0"/>
                <a:ea typeface="Arial" pitchFamily="34" charset="-122"/>
                <a:cs typeface="Arial" pitchFamily="34" charset="-120"/>
              </a:rPr>
              <a:t>Platform </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 keyword-matched on </a:t>
            </a:r>
            <a:pPr algn="l" indent="0" marL="0">
              <a:lnSpc>
                <a:spcPct val="135000"/>
              </a:lnSpc>
              <a:buNone/>
            </a:pPr>
            <a:r>
              <a:rPr lang="en-US" sz="1935" spc="-6" kern="0" dirty="0">
                <a:solidFill>
                  <a:srgbClr val="152F37"/>
                </a:solidFill>
                <a:highlight>
                  <a:srgbClr val="53A89B"/>
                </a:highlight>
                <a:latin typeface="Courier New" pitchFamily="34" charset="0"/>
                <a:ea typeface="Courier New" pitchFamily="34" charset="-122"/>
                <a:cs typeface="Courier New" pitchFamily="34" charset="-120"/>
              </a:rPr>
              <a:t>samplingProtocol</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a:t>
            </a:r>
            <a:endParaRPr lang="en-US" sz="2250" dirty="0"/>
          </a:p>
        </p:txBody>
      </p:sp>
      <p:sp>
        <p:nvSpPr>
          <p:cNvPr id="15" name="Text 12"/>
          <p:cNvSpPr/>
          <p:nvPr/>
        </p:nvSpPr>
        <p:spPr>
          <a:xfrm>
            <a:off x="1371600" y="6721376"/>
            <a:ext cx="7318683"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Output → </a:t>
            </a:r>
            <a:pPr algn="l" indent="0" marL="0">
              <a:lnSpc>
                <a:spcPct val="135000"/>
              </a:lnSpc>
              <a:buNone/>
            </a:pPr>
            <a:r>
              <a:rPr lang="en-US" sz="1935" spc="-6" kern="0" dirty="0">
                <a:solidFill>
                  <a:srgbClr val="152F37"/>
                </a:solidFill>
                <a:highlight>
                  <a:srgbClr val="53A89B"/>
                </a:highlight>
                <a:latin typeface="Courier New" pitchFamily="34" charset="0"/>
                <a:ea typeface="Courier New" pitchFamily="34" charset="-122"/>
                <a:cs typeface="Courier New" pitchFamily="34" charset="-120"/>
              </a:rPr>
              <a:t>metadata-xml </a:t>
            </a:r>
            <a:pPr algn="l" indent="0" marL="0">
              <a:lnSpc>
                <a:spcPct val="135000"/>
              </a:lnSpc>
              <a:buNone/>
            </a:pPr>
            <a:r>
              <a:rPr lang="en-US" sz="2250" spc="-6" kern="0" dirty="0">
                <a:solidFill>
                  <a:srgbClr val="152F37"/>
                </a:solidFill>
                <a:latin typeface="Arial" pitchFamily="34" charset="0"/>
                <a:ea typeface="Arial" pitchFamily="34" charset="-122"/>
                <a:cs typeface="Arial" pitchFamily="34" charset="-120"/>
              </a:rPr>
              <a:t>→ ISO 19115-3 → CKAN.</a:t>
            </a:r>
            <a:endParaRPr lang="en-US" sz="2250" dirty="0"/>
          </a:p>
        </p:txBody>
      </p:sp>
      <p:sp>
        <p:nvSpPr>
          <p:cNvPr id="16" name="Shape 13"/>
          <p:cNvSpPr/>
          <p:nvPr/>
        </p:nvSpPr>
        <p:spPr>
          <a:xfrm>
            <a:off x="9076730" y="876300"/>
            <a:ext cx="8182570" cy="6400800"/>
          </a:xfrm>
          <a:prstGeom prst="roundRect">
            <a:avLst>
              <a:gd name="adj" fmla="val 2083"/>
            </a:avLst>
          </a:prstGeom>
          <a:solidFill>
            <a:srgbClr val="00232B"/>
          </a:solidFill>
          <a:ln/>
          <a:effectLst>
            <a:outerShdw sx="100000" sy="100000" kx="0" ky="0" algn="bl" rotWithShape="0" blurRad="571500" dist="285750" dir="5400000">
              <a:srgbClr val="0B2236">
                <a:alpha val="55000"/>
              </a:srgbClr>
            </a:outerShdw>
          </a:effectLst>
        </p:spPr>
      </p:sp>
      <p:sp>
        <p:nvSpPr>
          <p:cNvPr id="17" name="Text 14"/>
          <p:cNvSpPr/>
          <p:nvPr/>
        </p:nvSpPr>
        <p:spPr>
          <a:xfrm>
            <a:off x="14018419" y="1009650"/>
            <a:ext cx="312227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324" kern="0" dirty="0">
                <a:solidFill>
                  <a:srgbClr val="8AA5A8"/>
                </a:solidFill>
                <a:latin typeface="Courier New" pitchFamily="34" charset="0"/>
                <a:ea typeface="Courier New" pitchFamily="34" charset="-122"/>
                <a:cs typeface="Courier New" pitchFamily="34" charset="-120"/>
              </a:rPr>
              <a:t>LOAD_FROM/OBIS.PY</a:t>
            </a:r>
            <a:endParaRPr lang="en-US" sz="1800" dirty="0"/>
          </a:p>
        </p:txBody>
      </p:sp>
      <p:sp>
        <p:nvSpPr>
          <p:cNvPr id="18" name="Text 15"/>
          <p:cNvSpPr/>
          <p:nvPr/>
        </p:nvSpPr>
        <p:spPr>
          <a:xfrm>
            <a:off x="9457730" y="1466850"/>
            <a:ext cx="621804"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8FCCC0"/>
                </a:solidFill>
                <a:latin typeface="Courier New" pitchFamily="34" charset="0"/>
                <a:ea typeface="Courier New" pitchFamily="34" charset="-122"/>
                <a:cs typeface="Courier New" pitchFamily="34" charset="-120"/>
              </a:rPr>
              <a:t>from</a:t>
            </a:r>
            <a:endParaRPr lang="en-US" sz="1800" dirty="0"/>
          </a:p>
        </p:txBody>
      </p:sp>
      <p:sp>
        <p:nvSpPr>
          <p:cNvPr id="19" name="Text 16"/>
          <p:cNvSpPr/>
          <p:nvPr/>
        </p:nvSpPr>
        <p:spPr>
          <a:xfrm>
            <a:off x="10003334" y="1466850"/>
            <a:ext cx="5900706"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cioos_metadata_conversion.load_from.obis </a:t>
            </a:r>
            <a:endParaRPr lang="en-US" sz="1800" dirty="0"/>
          </a:p>
        </p:txBody>
      </p:sp>
      <p:sp>
        <p:nvSpPr>
          <p:cNvPr id="20" name="Text 17"/>
          <p:cNvSpPr/>
          <p:nvPr/>
        </p:nvSpPr>
        <p:spPr>
          <a:xfrm>
            <a:off x="15732175" y="1466850"/>
            <a:ext cx="894606"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8FCCC0"/>
                </a:solidFill>
                <a:latin typeface="Courier New" pitchFamily="34" charset="0"/>
                <a:ea typeface="Courier New" pitchFamily="34" charset="-122"/>
                <a:cs typeface="Courier New" pitchFamily="34" charset="-120"/>
              </a:rPr>
              <a:t>import</a:t>
            </a:r>
            <a:endParaRPr lang="en-US" sz="1800" dirty="0"/>
          </a:p>
        </p:txBody>
      </p:sp>
      <p:sp>
        <p:nvSpPr>
          <p:cNvPr id="21" name="Text 18"/>
          <p:cNvSpPr/>
          <p:nvPr/>
        </p:nvSpPr>
        <p:spPr>
          <a:xfrm>
            <a:off x="9457730" y="1466850"/>
            <a:ext cx="7586622" cy="27336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a:t>
            </a: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map_obis_to_cioos,</a:t>
            </a: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fetch_eovs_from_taxonomy,</a:t>
            </a: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fetch_eovs_from_measurements,</a:t>
            </a: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fetch_platforms_from_obis,</a:t>
            </a: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a:t>
            </a:r>
            <a:endParaRPr lang="en-US" sz="1800" dirty="0"/>
          </a:p>
          <a:p>
            <a:pPr algn="l" indent="0" marL="0">
              <a:lnSpc>
                <a:spcPct val="150000"/>
              </a:lnSpc>
              <a:buNone/>
            </a:pP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obis = requests.</a:t>
            </a:r>
            <a:endParaRPr lang="en-US" sz="1800" dirty="0"/>
          </a:p>
        </p:txBody>
      </p:sp>
      <p:sp>
        <p:nvSpPr>
          <p:cNvPr id="22" name="Text 19"/>
          <p:cNvSpPr/>
          <p:nvPr/>
        </p:nvSpPr>
        <p:spPr>
          <a:xfrm>
            <a:off x="11640145" y="3867150"/>
            <a:ext cx="485477"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F2C77A"/>
                </a:solidFill>
                <a:latin typeface="Courier New" pitchFamily="34" charset="0"/>
                <a:ea typeface="Courier New" pitchFamily="34" charset="-122"/>
                <a:cs typeface="Courier New" pitchFamily="34" charset="-120"/>
              </a:rPr>
              <a:t>get</a:t>
            </a:r>
            <a:endParaRPr lang="en-US" sz="1800" dirty="0"/>
          </a:p>
        </p:txBody>
      </p:sp>
      <p:sp>
        <p:nvSpPr>
          <p:cNvPr id="23" name="Text 20"/>
          <p:cNvSpPr/>
          <p:nvPr/>
        </p:nvSpPr>
        <p:spPr>
          <a:xfrm>
            <a:off x="9457730" y="3867150"/>
            <a:ext cx="2810013" cy="6762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a:t>
            </a: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a:t>
            </a:r>
            <a:endParaRPr lang="en-US" sz="1800" dirty="0"/>
          </a:p>
        </p:txBody>
      </p:sp>
      <p:sp>
        <p:nvSpPr>
          <p:cNvPr id="24" name="Text 21"/>
          <p:cNvSpPr/>
          <p:nvPr/>
        </p:nvSpPr>
        <p:spPr>
          <a:xfrm>
            <a:off x="10003334" y="4210050"/>
            <a:ext cx="5760137"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DDC891"/>
                </a:solidFill>
                <a:latin typeface="Courier New" pitchFamily="34" charset="0"/>
                <a:ea typeface="Courier New" pitchFamily="34" charset="-122"/>
                <a:cs typeface="Courier New" pitchFamily="34" charset="-120"/>
              </a:rPr>
              <a:t>f"https://api.obis.org/v3/dataset/{uuid}"</a:t>
            </a:r>
            <a:endParaRPr lang="en-US" sz="1800" dirty="0"/>
          </a:p>
        </p:txBody>
      </p:sp>
      <p:sp>
        <p:nvSpPr>
          <p:cNvPr id="25" name="Text 22"/>
          <p:cNvSpPr/>
          <p:nvPr/>
        </p:nvSpPr>
        <p:spPr>
          <a:xfrm>
            <a:off x="9457730" y="4552950"/>
            <a:ext cx="349002"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a:t>
            </a:r>
            <a:endParaRPr lang="en-US" sz="1800" dirty="0"/>
          </a:p>
        </p:txBody>
      </p:sp>
      <p:sp>
        <p:nvSpPr>
          <p:cNvPr id="26" name="Text 23"/>
          <p:cNvSpPr/>
          <p:nvPr/>
        </p:nvSpPr>
        <p:spPr>
          <a:xfrm>
            <a:off x="9730532" y="4552950"/>
            <a:ext cx="621804"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F2C77A"/>
                </a:solidFill>
                <a:latin typeface="Courier New" pitchFamily="34" charset="0"/>
                <a:ea typeface="Courier New" pitchFamily="34" charset="-122"/>
                <a:cs typeface="Courier New" pitchFamily="34" charset="-120"/>
              </a:rPr>
              <a:t>json</a:t>
            </a:r>
            <a:endParaRPr lang="en-US" sz="1800" dirty="0"/>
          </a:p>
        </p:txBody>
      </p:sp>
      <p:sp>
        <p:nvSpPr>
          <p:cNvPr id="27" name="Text 24"/>
          <p:cNvSpPr/>
          <p:nvPr/>
        </p:nvSpPr>
        <p:spPr>
          <a:xfrm>
            <a:off x="10276136" y="4552950"/>
            <a:ext cx="485477"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a:t>
            </a:r>
            <a:endParaRPr lang="en-US" sz="1800" dirty="0"/>
          </a:p>
        </p:txBody>
      </p:sp>
      <p:sp>
        <p:nvSpPr>
          <p:cNvPr id="28" name="Text 25"/>
          <p:cNvSpPr/>
          <p:nvPr/>
        </p:nvSpPr>
        <p:spPr>
          <a:xfrm>
            <a:off x="10685413" y="4552950"/>
            <a:ext cx="1303883"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DDC891"/>
                </a:solidFill>
                <a:latin typeface="Courier New" pitchFamily="34" charset="0"/>
                <a:ea typeface="Courier New" pitchFamily="34" charset="-122"/>
                <a:cs typeface="Courier New" pitchFamily="34" charset="-120"/>
              </a:rPr>
              <a:t>"results"</a:t>
            </a:r>
            <a:endParaRPr lang="en-US" sz="1800" dirty="0"/>
          </a:p>
        </p:txBody>
      </p:sp>
      <p:sp>
        <p:nvSpPr>
          <p:cNvPr id="29" name="Text 26"/>
          <p:cNvSpPr/>
          <p:nvPr/>
        </p:nvSpPr>
        <p:spPr>
          <a:xfrm>
            <a:off x="11913096" y="4552950"/>
            <a:ext cx="349002"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a:t>
            </a:r>
            <a:endParaRPr lang="en-US" sz="1800" dirty="0"/>
          </a:p>
        </p:txBody>
      </p:sp>
      <p:sp>
        <p:nvSpPr>
          <p:cNvPr id="30" name="Text 27"/>
          <p:cNvSpPr/>
          <p:nvPr/>
        </p:nvSpPr>
        <p:spPr>
          <a:xfrm>
            <a:off x="12185898" y="4552950"/>
            <a:ext cx="212675"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B8D7E8"/>
                </a:solidFill>
                <a:latin typeface="Courier New" pitchFamily="34" charset="0"/>
                <a:ea typeface="Courier New" pitchFamily="34" charset="-122"/>
                <a:cs typeface="Courier New" pitchFamily="34" charset="-120"/>
              </a:rPr>
              <a:t>0</a:t>
            </a:r>
            <a:endParaRPr lang="en-US" sz="1800" dirty="0"/>
          </a:p>
        </p:txBody>
      </p:sp>
      <p:sp>
        <p:nvSpPr>
          <p:cNvPr id="31" name="Text 28"/>
          <p:cNvSpPr/>
          <p:nvPr/>
        </p:nvSpPr>
        <p:spPr>
          <a:xfrm>
            <a:off x="9457730" y="4552950"/>
            <a:ext cx="3091153" cy="10191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a:t>
            </a:r>
            <a:endParaRPr lang="en-US" sz="1800" dirty="0"/>
          </a:p>
          <a:p>
            <a:pPr algn="l" indent="0" marL="0">
              <a:lnSpc>
                <a:spcPct val="150000"/>
              </a:lnSpc>
              <a:buNone/>
            </a:pP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record = </a:t>
            </a:r>
            <a:endParaRPr lang="en-US" sz="1800" dirty="0"/>
          </a:p>
        </p:txBody>
      </p:sp>
      <p:sp>
        <p:nvSpPr>
          <p:cNvPr id="32" name="Text 29"/>
          <p:cNvSpPr/>
          <p:nvPr/>
        </p:nvSpPr>
        <p:spPr>
          <a:xfrm>
            <a:off x="10685413" y="5238750"/>
            <a:ext cx="2395091"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F2C77A"/>
                </a:solidFill>
                <a:latin typeface="Courier New" pitchFamily="34" charset="0"/>
                <a:ea typeface="Courier New" pitchFamily="34" charset="-122"/>
                <a:cs typeface="Courier New" pitchFamily="34" charset="-120"/>
              </a:rPr>
              <a:t>map_obis_to_cioos</a:t>
            </a:r>
            <a:endParaRPr lang="en-US" sz="1800" dirty="0"/>
          </a:p>
        </p:txBody>
      </p:sp>
      <p:sp>
        <p:nvSpPr>
          <p:cNvPr id="33" name="Text 30"/>
          <p:cNvSpPr/>
          <p:nvPr/>
        </p:nvSpPr>
        <p:spPr>
          <a:xfrm>
            <a:off x="9457730" y="5238750"/>
            <a:ext cx="4495929" cy="10191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(obis)</a:t>
            </a:r>
            <a:endParaRPr lang="en-US" sz="1800" dirty="0"/>
          </a:p>
          <a:p>
            <a:pPr algn="l" indent="0" marL="0">
              <a:lnSpc>
                <a:spcPct val="150000"/>
              </a:lnSpc>
              <a:buNone/>
            </a:pPr>
            <a:endParaRPr lang="en-US" sz="1800" dirty="0"/>
          </a:p>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record[</a:t>
            </a:r>
            <a:endParaRPr lang="en-US" sz="1800" dirty="0"/>
          </a:p>
        </p:txBody>
      </p:sp>
      <p:sp>
        <p:nvSpPr>
          <p:cNvPr id="34" name="Text 31"/>
          <p:cNvSpPr/>
          <p:nvPr/>
        </p:nvSpPr>
        <p:spPr>
          <a:xfrm>
            <a:off x="10412611" y="5924550"/>
            <a:ext cx="758279"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DDC891"/>
                </a:solidFill>
                <a:latin typeface="Courier New" pitchFamily="34" charset="0"/>
                <a:ea typeface="Courier New" pitchFamily="34" charset="-122"/>
                <a:cs typeface="Courier New" pitchFamily="34" charset="-120"/>
              </a:rPr>
              <a:t>"eov"</a:t>
            </a:r>
            <a:endParaRPr lang="en-US" sz="1800" dirty="0"/>
          </a:p>
        </p:txBody>
      </p:sp>
      <p:sp>
        <p:nvSpPr>
          <p:cNvPr id="35" name="Text 32"/>
          <p:cNvSpPr/>
          <p:nvPr/>
        </p:nvSpPr>
        <p:spPr>
          <a:xfrm>
            <a:off x="11094690" y="5924550"/>
            <a:ext cx="1031081"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a:t>
            </a:r>
            <a:endParaRPr lang="en-US" sz="1800" dirty="0"/>
          </a:p>
        </p:txBody>
      </p:sp>
      <p:sp>
        <p:nvSpPr>
          <p:cNvPr id="36" name="Text 33"/>
          <p:cNvSpPr/>
          <p:nvPr/>
        </p:nvSpPr>
        <p:spPr>
          <a:xfrm>
            <a:off x="12049571" y="5924550"/>
            <a:ext cx="2531418"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i="1" spc="-6" kern="0" dirty="0">
                <a:solidFill>
                  <a:srgbClr val="8AA5A8"/>
                </a:solidFill>
                <a:latin typeface="Courier New" pitchFamily="34" charset="0"/>
                <a:ea typeface="Courier New" pitchFamily="34" charset="-122"/>
                <a:cs typeface="Courier New" pitchFamily="34" charset="-120"/>
              </a:rPr>
              <a:t># derived EOV list</a:t>
            </a:r>
            <a:endParaRPr lang="en-US" sz="1800" dirty="0"/>
          </a:p>
        </p:txBody>
      </p:sp>
      <p:sp>
        <p:nvSpPr>
          <p:cNvPr id="37" name="Text 34"/>
          <p:cNvSpPr/>
          <p:nvPr/>
        </p:nvSpPr>
        <p:spPr>
          <a:xfrm>
            <a:off x="9457730" y="6267450"/>
            <a:ext cx="1031081"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record[</a:t>
            </a:r>
            <a:endParaRPr lang="en-US" sz="1800" dirty="0"/>
          </a:p>
        </p:txBody>
      </p:sp>
      <p:sp>
        <p:nvSpPr>
          <p:cNvPr id="38" name="Text 35"/>
          <p:cNvSpPr/>
          <p:nvPr/>
        </p:nvSpPr>
        <p:spPr>
          <a:xfrm>
            <a:off x="10412611" y="6267450"/>
            <a:ext cx="1440210"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DDC891"/>
                </a:solidFill>
                <a:latin typeface="Courier New" pitchFamily="34" charset="0"/>
                <a:ea typeface="Courier New" pitchFamily="34" charset="-122"/>
                <a:cs typeface="Courier New" pitchFamily="34" charset="-120"/>
              </a:rPr>
              <a:t>"platform"</a:t>
            </a:r>
            <a:endParaRPr lang="en-US" sz="1800" dirty="0"/>
          </a:p>
        </p:txBody>
      </p:sp>
      <p:sp>
        <p:nvSpPr>
          <p:cNvPr id="39" name="Text 36"/>
          <p:cNvSpPr/>
          <p:nvPr/>
        </p:nvSpPr>
        <p:spPr>
          <a:xfrm>
            <a:off x="11776621" y="6267450"/>
            <a:ext cx="349002"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a:t>
            </a:r>
            <a:endParaRPr lang="en-US" sz="1800" dirty="0"/>
          </a:p>
        </p:txBody>
      </p:sp>
      <p:sp>
        <p:nvSpPr>
          <p:cNvPr id="40" name="Text 37"/>
          <p:cNvSpPr/>
          <p:nvPr/>
        </p:nvSpPr>
        <p:spPr>
          <a:xfrm>
            <a:off x="12049423" y="6267450"/>
            <a:ext cx="4495776"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i="1" spc="-6" kern="0" dirty="0">
                <a:solidFill>
                  <a:srgbClr val="8AA5A8"/>
                </a:solidFill>
                <a:latin typeface="Courier New" pitchFamily="34" charset="0"/>
                <a:ea typeface="Courier New" pitchFamily="34" charset="-122"/>
                <a:cs typeface="Courier New" pitchFamily="34" charset="-120"/>
              </a:rPr>
              <a:t># inferred from samplingProtocol</a:t>
            </a:r>
            <a:endParaRPr lang="en-US" sz="1800" dirty="0"/>
          </a:p>
        </p:txBody>
      </p:sp>
      <p:sp>
        <p:nvSpPr>
          <p:cNvPr id="41" name="Text 38"/>
          <p:cNvSpPr/>
          <p:nvPr/>
        </p:nvSpPr>
        <p:spPr>
          <a:xfrm>
            <a:off x="9457730" y="6610350"/>
            <a:ext cx="1031081"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record[</a:t>
            </a:r>
            <a:endParaRPr lang="en-US" sz="1800" dirty="0"/>
          </a:p>
        </p:txBody>
      </p:sp>
      <p:sp>
        <p:nvSpPr>
          <p:cNvPr id="42" name="Text 39"/>
          <p:cNvSpPr/>
          <p:nvPr/>
        </p:nvSpPr>
        <p:spPr>
          <a:xfrm>
            <a:off x="10412611" y="6610350"/>
            <a:ext cx="758279"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spc="-6" kern="0" dirty="0">
                <a:solidFill>
                  <a:srgbClr val="DDC891"/>
                </a:solidFill>
                <a:latin typeface="Courier New" pitchFamily="34" charset="0"/>
                <a:ea typeface="Courier New" pitchFamily="34" charset="-122"/>
                <a:cs typeface="Courier New" pitchFamily="34" charset="-120"/>
              </a:rPr>
              <a:t>"map"</a:t>
            </a:r>
            <a:endParaRPr lang="en-US" sz="1800" dirty="0"/>
          </a:p>
        </p:txBody>
      </p:sp>
      <p:sp>
        <p:nvSpPr>
          <p:cNvPr id="43" name="Text 40"/>
          <p:cNvSpPr/>
          <p:nvPr/>
        </p:nvSpPr>
        <p:spPr>
          <a:xfrm>
            <a:off x="11094690" y="6610350"/>
            <a:ext cx="1031081" cy="333375"/>
          </a:xfrm>
          <a:prstGeom prst="rect">
            <a:avLst/>
          </a:prstGeom>
          <a:noFill/>
          <a:ln/>
        </p:spPr>
        <p:txBody>
          <a:bodyPr wrap="square" lIns="0" tIns="0" rIns="0" bIns="0" rtlCol="0" anchor="t">
            <a:normAutofit/>
          </a:bodyPr>
          <a:lstStyle/>
          <a:p>
            <a:pPr algn="l" indent="0" marL="0">
              <a:lnSpc>
                <a:spcPct val="150000"/>
              </a:lnSpc>
              <a:buNone/>
            </a:pPr>
            <a:r>
              <a:rPr lang="en-US" sz="1800" spc="-6" kern="0" dirty="0">
                <a:solidFill>
                  <a:srgbClr val="F2F0EC"/>
                </a:solidFill>
                <a:latin typeface="Courier New" pitchFamily="34" charset="0"/>
                <a:ea typeface="Courier New" pitchFamily="34" charset="-122"/>
                <a:cs typeface="Courier New" pitchFamily="34" charset="-120"/>
              </a:rPr>
              <a:t>]      </a:t>
            </a:r>
            <a:endParaRPr lang="en-US" sz="1800" dirty="0"/>
          </a:p>
        </p:txBody>
      </p:sp>
      <p:sp>
        <p:nvSpPr>
          <p:cNvPr id="44" name="Text 41"/>
          <p:cNvSpPr/>
          <p:nvPr/>
        </p:nvSpPr>
        <p:spPr>
          <a:xfrm>
            <a:off x="12049571" y="6610350"/>
            <a:ext cx="2809860" cy="333375"/>
          </a:xfrm>
          <a:prstGeom prst="rect">
            <a:avLst/>
          </a:prstGeom>
          <a:noFill/>
          <a:ln/>
        </p:spPr>
        <p:txBody>
          <a:bodyPr wrap="square" lIns="25400" tIns="25400" rIns="25400" bIns="25400" rtlCol="0" anchor="t">
            <a:normAutofit/>
          </a:bodyPr>
          <a:lstStyle/>
          <a:p>
            <a:pPr algn="l" indent="0" marL="0">
              <a:lnSpc>
                <a:spcPct val="150000"/>
              </a:lnSpc>
              <a:buNone/>
            </a:pPr>
            <a:r>
              <a:rPr lang="en-US" sz="1800" i="1" spc="-6" kern="0" dirty="0">
                <a:solidFill>
                  <a:srgbClr val="8AA5A8"/>
                </a:solidFill>
                <a:latin typeface="Courier New" pitchFamily="34" charset="0"/>
                <a:ea typeface="Courier New" pitchFamily="34" charset="-122"/>
                <a:cs typeface="Courier New" pitchFamily="34" charset="-120"/>
              </a:rPr>
              <a:t># bbox + WKT polygon</a:t>
            </a:r>
            <a:endParaRPr lang="en-US" sz="1800" dirty="0"/>
          </a:p>
        </p:txBody>
      </p:sp>
      <p:sp>
        <p:nvSpPr>
          <p:cNvPr id="45" name="Text 42"/>
          <p:cNvSpPr/>
          <p:nvPr/>
        </p:nvSpPr>
        <p:spPr>
          <a:xfrm>
            <a:off x="1028700" y="9648825"/>
            <a:ext cx="4007538"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HOW IT WORKS · 09 OF 16</a:t>
            </a:r>
            <a:endParaRPr lang="en-US" sz="1800" dirty="0"/>
          </a:p>
        </p:txBody>
      </p:sp>
      <p:sp>
        <p:nvSpPr>
          <p:cNvPr id="46" name="Text 43"/>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939915" y="481012"/>
            <a:ext cx="395585"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10</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THE PART THAT TOOK LONGEST</a:t>
            </a:r>
            <a:endParaRPr lang="en-US" sz="1800" dirty="0"/>
          </a:p>
        </p:txBody>
      </p:sp>
      <p:sp>
        <p:nvSpPr>
          <p:cNvPr id="6" name="Text 3"/>
          <p:cNvSpPr/>
          <p:nvPr/>
        </p:nvSpPr>
        <p:spPr>
          <a:xfrm>
            <a:off x="1028700" y="1419225"/>
            <a:ext cx="14716125"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EOV derivation — two signals, four gates.</a:t>
            </a:r>
            <a:endParaRPr lang="en-US" sz="4500" dirty="0"/>
          </a:p>
        </p:txBody>
      </p:sp>
      <p:sp>
        <p:nvSpPr>
          <p:cNvPr id="7" name="Shape 4"/>
          <p:cNvSpPr/>
          <p:nvPr/>
        </p:nvSpPr>
        <p:spPr>
          <a:xfrm>
            <a:off x="1028700" y="2318296"/>
            <a:ext cx="7810500" cy="4772471"/>
          </a:xfrm>
          <a:prstGeom prst="roundRect">
            <a:avLst>
              <a:gd name="adj" fmla="val 3193"/>
            </a:avLst>
          </a:prstGeom>
          <a:solidFill>
            <a:srgbClr val="FFFDF7"/>
          </a:solidFill>
          <a:ln w="9525">
            <a:solidFill>
              <a:srgbClr val="D9D5CB"/>
            </a:solidFill>
            <a:prstDash val="solid"/>
          </a:ln>
        </p:spPr>
      </p:sp>
      <p:sp>
        <p:nvSpPr>
          <p:cNvPr id="8" name="Text 5"/>
          <p:cNvSpPr/>
          <p:nvPr/>
        </p:nvSpPr>
        <p:spPr>
          <a:xfrm>
            <a:off x="1495425" y="2746921"/>
            <a:ext cx="708336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3A89B"/>
                </a:solidFill>
                <a:latin typeface="Courier New" pitchFamily="34" charset="0"/>
                <a:ea typeface="Courier New" pitchFamily="34" charset="-122"/>
                <a:cs typeface="Courier New" pitchFamily="34" charset="-120"/>
              </a:rPr>
              <a:t>SIGNAL 01 · TAXONOMY</a:t>
            </a:r>
            <a:endParaRPr lang="en-US" sz="1800" dirty="0"/>
          </a:p>
        </p:txBody>
      </p:sp>
      <p:sp>
        <p:nvSpPr>
          <p:cNvPr id="9" name="Text 6"/>
          <p:cNvSpPr/>
          <p:nvPr/>
        </p:nvSpPr>
        <p:spPr>
          <a:xfrm>
            <a:off x="1495425" y="3213646"/>
            <a:ext cx="7083362" cy="454223"/>
          </a:xfrm>
          <a:prstGeom prst="rect">
            <a:avLst/>
          </a:prstGeom>
          <a:noFill/>
          <a:ln/>
        </p:spPr>
        <p:txBody>
          <a:bodyPr wrap="square" lIns="25400" tIns="25400" rIns="25400" bIns="25400" rtlCol="0" anchor="t">
            <a:normAutofit/>
          </a:bodyPr>
          <a:lstStyle/>
          <a:p>
            <a:pPr algn="l" indent="0" marL="0">
              <a:lnSpc>
                <a:spcPct val="115000"/>
              </a:lnSpc>
              <a:buNone/>
            </a:pPr>
            <a:r>
              <a:rPr lang="en-US" sz="2850" b="1" spc="-6" kern="0" dirty="0">
                <a:solidFill>
                  <a:srgbClr val="152F37"/>
                </a:solidFill>
                <a:latin typeface="Arial" pitchFamily="34" charset="0"/>
                <a:ea typeface="Arial" pitchFamily="34" charset="-122"/>
                <a:cs typeface="Arial" pitchFamily="34" charset="-120"/>
              </a:rPr>
              <a:t>Class facets → curated EOV table.</a:t>
            </a:r>
            <a:endParaRPr lang="en-US" sz="2850" dirty="0"/>
          </a:p>
        </p:txBody>
      </p:sp>
      <p:sp>
        <p:nvSpPr>
          <p:cNvPr id="10" name="Text 7"/>
          <p:cNvSpPr/>
          <p:nvPr/>
        </p:nvSpPr>
        <p:spPr>
          <a:xfrm>
            <a:off x="1495425" y="3858369"/>
            <a:ext cx="7083362"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spc="-6" kern="0" dirty="0">
                <a:solidFill>
                  <a:srgbClr val="5B6B6E"/>
                </a:solidFill>
                <a:latin typeface="Courier New" pitchFamily="34" charset="0"/>
                <a:ea typeface="Courier New" pitchFamily="34" charset="-122"/>
                <a:cs typeface="Courier New" pitchFamily="34" charset="-120"/>
              </a:rPr>
              <a:t>GET /v3/facet?datasetid={uuid}&amp;facets=class</a:t>
            </a:r>
            <a:endParaRPr lang="en-US" sz="1650" dirty="0"/>
          </a:p>
        </p:txBody>
      </p:sp>
      <p:sp>
        <p:nvSpPr>
          <p:cNvPr id="11" name="Text 8"/>
          <p:cNvSpPr/>
          <p:nvPr/>
        </p:nvSpPr>
        <p:spPr>
          <a:xfrm>
            <a:off x="1322070" y="4285059"/>
            <a:ext cx="7126605" cy="1832372"/>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~240 marine classes hand-mapped.</a:t>
            </a:r>
            <a:endParaRPr lang="en-US" sz="1950" dirty="0"/>
          </a:p>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Copepoda → zooplankton; Bacillariophyceae → phytoplankton; Magnoliopsida → seagrass.</a:t>
            </a:r>
            <a:endParaRPr lang="en-US" sz="1950" dirty="0"/>
          </a:p>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Skipped: terrestrial fungi, host-bound parasites.</a:t>
            </a:r>
            <a:endParaRPr lang="en-US" sz="1950" dirty="0"/>
          </a:p>
        </p:txBody>
      </p:sp>
      <p:sp>
        <p:nvSpPr>
          <p:cNvPr id="12" name="Shape 9"/>
          <p:cNvSpPr/>
          <p:nvPr/>
        </p:nvSpPr>
        <p:spPr>
          <a:xfrm>
            <a:off x="9448800" y="2318296"/>
            <a:ext cx="7810500" cy="4772471"/>
          </a:xfrm>
          <a:prstGeom prst="roundRect">
            <a:avLst>
              <a:gd name="adj" fmla="val 3193"/>
            </a:avLst>
          </a:prstGeom>
          <a:solidFill>
            <a:srgbClr val="FFFDF7"/>
          </a:solidFill>
          <a:ln w="9525">
            <a:solidFill>
              <a:srgbClr val="D9D5CB"/>
            </a:solidFill>
            <a:prstDash val="solid"/>
          </a:ln>
        </p:spPr>
      </p:sp>
      <p:sp>
        <p:nvSpPr>
          <p:cNvPr id="13" name="Text 10"/>
          <p:cNvSpPr/>
          <p:nvPr/>
        </p:nvSpPr>
        <p:spPr>
          <a:xfrm>
            <a:off x="9915525" y="2746921"/>
            <a:ext cx="708336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3A89B"/>
                </a:solidFill>
                <a:latin typeface="Courier New" pitchFamily="34" charset="0"/>
                <a:ea typeface="Courier New" pitchFamily="34" charset="-122"/>
                <a:cs typeface="Courier New" pitchFamily="34" charset="-120"/>
              </a:rPr>
              <a:t>SIGNAL 02 · EMOF MEASUREMENTS</a:t>
            </a:r>
            <a:endParaRPr lang="en-US" sz="1800" dirty="0"/>
          </a:p>
        </p:txBody>
      </p:sp>
      <p:sp>
        <p:nvSpPr>
          <p:cNvPr id="14" name="Text 11"/>
          <p:cNvSpPr/>
          <p:nvPr/>
        </p:nvSpPr>
        <p:spPr>
          <a:xfrm>
            <a:off x="9915525" y="3213646"/>
            <a:ext cx="7083362" cy="454223"/>
          </a:xfrm>
          <a:prstGeom prst="rect">
            <a:avLst/>
          </a:prstGeom>
          <a:noFill/>
          <a:ln/>
        </p:spPr>
        <p:txBody>
          <a:bodyPr wrap="square" lIns="25400" tIns="25400" rIns="25400" bIns="25400" rtlCol="0" anchor="t">
            <a:normAutofit/>
          </a:bodyPr>
          <a:lstStyle/>
          <a:p>
            <a:pPr algn="l" indent="0" marL="0">
              <a:lnSpc>
                <a:spcPct val="115000"/>
              </a:lnSpc>
              <a:buNone/>
            </a:pPr>
            <a:r>
              <a:rPr lang="en-US" sz="2850" b="1" spc="-6" kern="0" dirty="0">
                <a:solidFill>
                  <a:srgbClr val="152F37"/>
                </a:solidFill>
                <a:latin typeface="Arial" pitchFamily="34" charset="0"/>
                <a:ea typeface="Arial" pitchFamily="34" charset="-122"/>
                <a:cs typeface="Arial" pitchFamily="34" charset="-120"/>
              </a:rPr>
              <a:t>P01 codes + EN/FR free-text fallback.</a:t>
            </a:r>
            <a:endParaRPr lang="en-US" sz="2850" dirty="0"/>
          </a:p>
        </p:txBody>
      </p:sp>
      <p:sp>
        <p:nvSpPr>
          <p:cNvPr id="15" name="Text 12"/>
          <p:cNvSpPr/>
          <p:nvPr/>
        </p:nvSpPr>
        <p:spPr>
          <a:xfrm>
            <a:off x="9915525" y="3858369"/>
            <a:ext cx="7083362"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spc="-6" kern="0" dirty="0">
                <a:solidFill>
                  <a:srgbClr val="5B6B6E"/>
                </a:solidFill>
                <a:latin typeface="Courier New" pitchFamily="34" charset="0"/>
                <a:ea typeface="Courier New" pitchFamily="34" charset="-122"/>
                <a:cs typeface="Courier New" pitchFamily="34" charset="-120"/>
              </a:rPr>
              <a:t>GET /v3/occurrence?datasetid={uuid}&amp;mof=true</a:t>
            </a:r>
            <a:endParaRPr lang="en-US" sz="1650" dirty="0"/>
          </a:p>
        </p:txBody>
      </p:sp>
      <p:sp>
        <p:nvSpPr>
          <p:cNvPr id="16" name="Text 13"/>
          <p:cNvSpPr/>
          <p:nvPr/>
        </p:nvSpPr>
        <p:spPr>
          <a:xfrm>
            <a:off x="10258425" y="4285059"/>
            <a:ext cx="67404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BODC P01 URI tail → CIOOS EOV.</a:t>
            </a:r>
            <a:endParaRPr lang="en-US" sz="1950" dirty="0"/>
          </a:p>
        </p:txBody>
      </p:sp>
      <p:sp>
        <p:nvSpPr>
          <p:cNvPr id="17" name="Text 14"/>
          <p:cNvSpPr/>
          <p:nvPr/>
        </p:nvSpPr>
        <p:spPr>
          <a:xfrm>
            <a:off x="10258425" y="4847927"/>
            <a:ext cx="67404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French + English text match for older records.</a:t>
            </a:r>
            <a:endParaRPr lang="en-US" sz="1950" dirty="0"/>
          </a:p>
        </p:txBody>
      </p:sp>
      <p:sp>
        <p:nvSpPr>
          <p:cNvPr id="18" name="Text 15"/>
          <p:cNvSpPr/>
          <p:nvPr/>
        </p:nvSpPr>
        <p:spPr>
          <a:xfrm>
            <a:off x="10258425" y="5410795"/>
            <a:ext cx="6740462"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Suppresses air-temp &amp; </a:t>
            </a:r>
            <a:pPr algn="l" indent="0" marL="0">
              <a:lnSpc>
                <a:spcPct val="135000"/>
              </a:lnSpc>
              <a:buNone/>
            </a:pPr>
            <a:r>
              <a:rPr lang="en-US" sz="1677" spc="-6" kern="0" dirty="0">
                <a:solidFill>
                  <a:srgbClr val="152F37"/>
                </a:solidFill>
                <a:highlight>
                  <a:srgbClr val="53A89B"/>
                </a:highlight>
                <a:latin typeface="Courier New" pitchFamily="34" charset="0"/>
                <a:ea typeface="Courier New" pitchFamily="34" charset="-122"/>
                <a:cs typeface="Courier New" pitchFamily="34" charset="-120"/>
              </a:rPr>
              <a:t>per cell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phytoplankton units.</a:t>
            </a:r>
            <a:endParaRPr lang="en-US" sz="1950" dirty="0"/>
          </a:p>
        </p:txBody>
      </p:sp>
      <p:sp>
        <p:nvSpPr>
          <p:cNvPr id="19" name="Shape 16"/>
          <p:cNvSpPr/>
          <p:nvPr/>
        </p:nvSpPr>
        <p:spPr>
          <a:xfrm>
            <a:off x="1028700" y="7319367"/>
            <a:ext cx="8001000" cy="940891"/>
          </a:xfrm>
          <a:prstGeom prst="roundRect">
            <a:avLst>
              <a:gd name="adj" fmla="val 10123"/>
            </a:avLst>
          </a:prstGeom>
          <a:solidFill>
            <a:srgbClr val="FFFDF7"/>
          </a:solidFill>
          <a:ln/>
        </p:spPr>
      </p:sp>
      <p:sp>
        <p:nvSpPr>
          <p:cNvPr id="20" name="Shape 17"/>
          <p:cNvSpPr/>
          <p:nvPr/>
        </p:nvSpPr>
        <p:spPr>
          <a:xfrm>
            <a:off x="1028700" y="8250734"/>
            <a:ext cx="8001000" cy="9525"/>
          </a:xfrm>
          <a:prstGeom prst="rect">
            <a:avLst/>
          </a:prstGeom>
          <a:solidFill>
            <a:srgbClr val="D9D5CB"/>
          </a:solidFill>
          <a:ln/>
        </p:spPr>
      </p:sp>
      <p:sp>
        <p:nvSpPr>
          <p:cNvPr id="21" name="Shape 18"/>
          <p:cNvSpPr/>
          <p:nvPr/>
        </p:nvSpPr>
        <p:spPr>
          <a:xfrm>
            <a:off x="1028700" y="7319367"/>
            <a:ext cx="8001000" cy="9525"/>
          </a:xfrm>
          <a:prstGeom prst="rect">
            <a:avLst/>
          </a:prstGeom>
          <a:solidFill>
            <a:srgbClr val="D9D5CB"/>
          </a:solidFill>
          <a:ln/>
        </p:spPr>
      </p:sp>
      <p:sp>
        <p:nvSpPr>
          <p:cNvPr id="22" name="Shape 19"/>
          <p:cNvSpPr/>
          <p:nvPr/>
        </p:nvSpPr>
        <p:spPr>
          <a:xfrm>
            <a:off x="1028700" y="7319367"/>
            <a:ext cx="38100" cy="940891"/>
          </a:xfrm>
          <a:prstGeom prst="rect">
            <a:avLst/>
          </a:prstGeom>
          <a:solidFill>
            <a:srgbClr val="53A89B"/>
          </a:solidFill>
          <a:ln/>
        </p:spPr>
      </p:sp>
      <p:sp>
        <p:nvSpPr>
          <p:cNvPr id="23" name="Shape 20"/>
          <p:cNvSpPr/>
          <p:nvPr/>
        </p:nvSpPr>
        <p:spPr>
          <a:xfrm>
            <a:off x="9020175" y="7319367"/>
            <a:ext cx="9525" cy="940891"/>
          </a:xfrm>
          <a:prstGeom prst="rect">
            <a:avLst/>
          </a:prstGeom>
          <a:solidFill>
            <a:srgbClr val="D9D5CB"/>
          </a:solidFill>
          <a:ln/>
        </p:spPr>
      </p:sp>
      <p:sp>
        <p:nvSpPr>
          <p:cNvPr id="24" name="Text 21"/>
          <p:cNvSpPr/>
          <p:nvPr/>
        </p:nvSpPr>
        <p:spPr>
          <a:xfrm>
            <a:off x="1276350" y="7481292"/>
            <a:ext cx="7774305"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b="1" spc="-6" kern="0" dirty="0">
                <a:solidFill>
                  <a:srgbClr val="53A89B"/>
                </a:solidFill>
                <a:latin typeface="Arial" pitchFamily="34" charset="0"/>
                <a:ea typeface="Arial" pitchFamily="34" charset="-122"/>
                <a:cs typeface="Arial" pitchFamily="34" charset="-120"/>
              </a:rPr>
              <a:t>Cover EOVs ≥ 5% </a:t>
            </a:r>
            <a:pPr algn="l" indent="0" marL="0">
              <a:lnSpc>
                <a:spcPct val="135000"/>
              </a:lnSpc>
              <a:buNone/>
            </a:pPr>
            <a:r>
              <a:rPr lang="en-US" sz="1800" spc="-6" kern="0" dirty="0">
                <a:solidFill>
                  <a:srgbClr val="152F37"/>
                </a:solidFill>
                <a:highlight>
                  <a:srgbClr val="FFFDF7"/>
                </a:highlight>
                <a:latin typeface="Arial" pitchFamily="34" charset="0"/>
                <a:ea typeface="Arial" pitchFamily="34" charset="-122"/>
                <a:cs typeface="Arial" pitchFamily="34" charset="-120"/>
              </a:rPr>
              <a:t>— kelp / coral / seagrass need real coverage, not by-catch.</a:t>
            </a:r>
            <a:endParaRPr lang="en-US" sz="1800" dirty="0"/>
          </a:p>
        </p:txBody>
      </p:sp>
      <p:sp>
        <p:nvSpPr>
          <p:cNvPr id="25" name="Shape 22"/>
          <p:cNvSpPr/>
          <p:nvPr/>
        </p:nvSpPr>
        <p:spPr>
          <a:xfrm>
            <a:off x="9258300" y="7319367"/>
            <a:ext cx="8001000" cy="940891"/>
          </a:xfrm>
          <a:prstGeom prst="roundRect">
            <a:avLst>
              <a:gd name="adj" fmla="val 10123"/>
            </a:avLst>
          </a:prstGeom>
          <a:solidFill>
            <a:srgbClr val="FFFDF7"/>
          </a:solidFill>
          <a:ln/>
        </p:spPr>
      </p:sp>
      <p:sp>
        <p:nvSpPr>
          <p:cNvPr id="26" name="Shape 23"/>
          <p:cNvSpPr/>
          <p:nvPr/>
        </p:nvSpPr>
        <p:spPr>
          <a:xfrm>
            <a:off x="9258300" y="8250734"/>
            <a:ext cx="8001000" cy="9525"/>
          </a:xfrm>
          <a:prstGeom prst="rect">
            <a:avLst/>
          </a:prstGeom>
          <a:solidFill>
            <a:srgbClr val="D9D5CB"/>
          </a:solidFill>
          <a:ln/>
        </p:spPr>
      </p:sp>
      <p:sp>
        <p:nvSpPr>
          <p:cNvPr id="27" name="Shape 24"/>
          <p:cNvSpPr/>
          <p:nvPr/>
        </p:nvSpPr>
        <p:spPr>
          <a:xfrm>
            <a:off x="9258300" y="7319367"/>
            <a:ext cx="8001000" cy="9525"/>
          </a:xfrm>
          <a:prstGeom prst="rect">
            <a:avLst/>
          </a:prstGeom>
          <a:solidFill>
            <a:srgbClr val="D9D5CB"/>
          </a:solidFill>
          <a:ln/>
        </p:spPr>
      </p:sp>
      <p:sp>
        <p:nvSpPr>
          <p:cNvPr id="28" name="Shape 25"/>
          <p:cNvSpPr/>
          <p:nvPr/>
        </p:nvSpPr>
        <p:spPr>
          <a:xfrm>
            <a:off x="9258300" y="7319367"/>
            <a:ext cx="38100" cy="940891"/>
          </a:xfrm>
          <a:prstGeom prst="rect">
            <a:avLst/>
          </a:prstGeom>
          <a:solidFill>
            <a:srgbClr val="53A89B"/>
          </a:solidFill>
          <a:ln/>
        </p:spPr>
      </p:sp>
      <p:sp>
        <p:nvSpPr>
          <p:cNvPr id="29" name="Shape 26"/>
          <p:cNvSpPr/>
          <p:nvPr/>
        </p:nvSpPr>
        <p:spPr>
          <a:xfrm>
            <a:off x="17249775" y="7319367"/>
            <a:ext cx="9525" cy="940891"/>
          </a:xfrm>
          <a:prstGeom prst="rect">
            <a:avLst/>
          </a:prstGeom>
          <a:solidFill>
            <a:srgbClr val="D9D5CB"/>
          </a:solidFill>
          <a:ln/>
        </p:spPr>
      </p:sp>
      <p:sp>
        <p:nvSpPr>
          <p:cNvPr id="30" name="Text 27"/>
          <p:cNvSpPr/>
          <p:nvPr/>
        </p:nvSpPr>
        <p:spPr>
          <a:xfrm>
            <a:off x="9505950" y="7481292"/>
            <a:ext cx="7774305"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b="1" spc="-6" kern="0" dirty="0">
                <a:solidFill>
                  <a:srgbClr val="53A89B"/>
                </a:solidFill>
                <a:latin typeface="Arial" pitchFamily="34" charset="0"/>
                <a:ea typeface="Arial" pitchFamily="34" charset="-122"/>
                <a:cs typeface="Arial" pitchFamily="34" charset="-120"/>
              </a:rPr>
              <a:t>Zooplankton core ≥ 5% </a:t>
            </a:r>
            <a:pPr algn="l" indent="0" marL="0">
              <a:lnSpc>
                <a:spcPct val="135000"/>
              </a:lnSpc>
              <a:buNone/>
            </a:pPr>
            <a:r>
              <a:rPr lang="en-US" sz="1800" spc="-6" kern="0" dirty="0">
                <a:solidFill>
                  <a:srgbClr val="152F37"/>
                </a:solidFill>
                <a:highlight>
                  <a:srgbClr val="FFFDF7"/>
                </a:highlight>
                <a:latin typeface="Arial" pitchFamily="34" charset="0"/>
                <a:ea typeface="Arial" pitchFamily="34" charset="-122"/>
                <a:cs typeface="Arial" pitchFamily="34" charset="-120"/>
              </a:rPr>
              <a:t>— copepods / ostracods, not gelatinous by-catch alone.</a:t>
            </a:r>
            <a:endParaRPr lang="en-US" sz="1800" dirty="0"/>
          </a:p>
        </p:txBody>
      </p:sp>
      <p:sp>
        <p:nvSpPr>
          <p:cNvPr id="31" name="Shape 28"/>
          <p:cNvSpPr/>
          <p:nvPr/>
        </p:nvSpPr>
        <p:spPr>
          <a:xfrm>
            <a:off x="1028700" y="8393609"/>
            <a:ext cx="8001000" cy="940891"/>
          </a:xfrm>
          <a:prstGeom prst="roundRect">
            <a:avLst>
              <a:gd name="adj" fmla="val 10123"/>
            </a:avLst>
          </a:prstGeom>
          <a:solidFill>
            <a:srgbClr val="FFFDF7"/>
          </a:solidFill>
          <a:ln/>
        </p:spPr>
      </p:sp>
      <p:sp>
        <p:nvSpPr>
          <p:cNvPr id="32" name="Shape 29"/>
          <p:cNvSpPr/>
          <p:nvPr/>
        </p:nvSpPr>
        <p:spPr>
          <a:xfrm>
            <a:off x="1028700" y="9324975"/>
            <a:ext cx="8001000" cy="9525"/>
          </a:xfrm>
          <a:prstGeom prst="rect">
            <a:avLst/>
          </a:prstGeom>
          <a:solidFill>
            <a:srgbClr val="D9D5CB"/>
          </a:solidFill>
          <a:ln/>
        </p:spPr>
      </p:sp>
      <p:sp>
        <p:nvSpPr>
          <p:cNvPr id="33" name="Shape 30"/>
          <p:cNvSpPr/>
          <p:nvPr/>
        </p:nvSpPr>
        <p:spPr>
          <a:xfrm>
            <a:off x="1028700" y="8393609"/>
            <a:ext cx="8001000" cy="9525"/>
          </a:xfrm>
          <a:prstGeom prst="rect">
            <a:avLst/>
          </a:prstGeom>
          <a:solidFill>
            <a:srgbClr val="D9D5CB"/>
          </a:solidFill>
          <a:ln/>
        </p:spPr>
      </p:sp>
      <p:sp>
        <p:nvSpPr>
          <p:cNvPr id="34" name="Shape 31"/>
          <p:cNvSpPr/>
          <p:nvPr/>
        </p:nvSpPr>
        <p:spPr>
          <a:xfrm>
            <a:off x="1028700" y="8393609"/>
            <a:ext cx="38100" cy="940891"/>
          </a:xfrm>
          <a:prstGeom prst="rect">
            <a:avLst/>
          </a:prstGeom>
          <a:solidFill>
            <a:srgbClr val="53A89B"/>
          </a:solidFill>
          <a:ln/>
        </p:spPr>
      </p:sp>
      <p:sp>
        <p:nvSpPr>
          <p:cNvPr id="35" name="Shape 32"/>
          <p:cNvSpPr/>
          <p:nvPr/>
        </p:nvSpPr>
        <p:spPr>
          <a:xfrm>
            <a:off x="9020175" y="8393609"/>
            <a:ext cx="9525" cy="940891"/>
          </a:xfrm>
          <a:prstGeom prst="rect">
            <a:avLst/>
          </a:prstGeom>
          <a:solidFill>
            <a:srgbClr val="D9D5CB"/>
          </a:solidFill>
          <a:ln/>
        </p:spPr>
      </p:sp>
      <p:sp>
        <p:nvSpPr>
          <p:cNvPr id="36" name="Text 33"/>
          <p:cNvSpPr/>
          <p:nvPr/>
        </p:nvSpPr>
        <p:spPr>
          <a:xfrm>
            <a:off x="1276350" y="8555534"/>
            <a:ext cx="7774305"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b="1" spc="-6" kern="0" dirty="0">
                <a:solidFill>
                  <a:srgbClr val="53A89B"/>
                </a:solidFill>
                <a:latin typeface="Arial" pitchFamily="34" charset="0"/>
                <a:ea typeface="Arial" pitchFamily="34" charset="-122"/>
                <a:cs typeface="Arial" pitchFamily="34" charset="-120"/>
              </a:rPr>
              <a:t>Invertebrate gate </a:t>
            </a:r>
            <a:pPr algn="l" indent="0" marL="0">
              <a:lnSpc>
                <a:spcPct val="135000"/>
              </a:lnSpc>
              <a:buNone/>
            </a:pPr>
            <a:r>
              <a:rPr lang="en-US" sz="1800" spc="-6" kern="0" dirty="0">
                <a:solidFill>
                  <a:srgbClr val="152F37"/>
                </a:solidFill>
                <a:highlight>
                  <a:srgbClr val="FFFDF7"/>
                </a:highlight>
                <a:latin typeface="Arial" pitchFamily="34" charset="0"/>
                <a:ea typeface="Arial" pitchFamily="34" charset="-122"/>
                <a:cs typeface="Arial" pitchFamily="34" charset="-120"/>
              </a:rPr>
              <a:t>— only with zooplankton when a benthic-indicator class is present.</a:t>
            </a:r>
            <a:endParaRPr lang="en-US" sz="1800" dirty="0"/>
          </a:p>
        </p:txBody>
      </p:sp>
      <p:sp>
        <p:nvSpPr>
          <p:cNvPr id="37" name="Shape 34"/>
          <p:cNvSpPr/>
          <p:nvPr/>
        </p:nvSpPr>
        <p:spPr>
          <a:xfrm>
            <a:off x="9258300" y="8393609"/>
            <a:ext cx="8001000" cy="940891"/>
          </a:xfrm>
          <a:prstGeom prst="roundRect">
            <a:avLst>
              <a:gd name="adj" fmla="val 10123"/>
            </a:avLst>
          </a:prstGeom>
          <a:solidFill>
            <a:srgbClr val="FFFDF7"/>
          </a:solidFill>
          <a:ln/>
        </p:spPr>
      </p:sp>
      <p:sp>
        <p:nvSpPr>
          <p:cNvPr id="38" name="Shape 35"/>
          <p:cNvSpPr/>
          <p:nvPr/>
        </p:nvSpPr>
        <p:spPr>
          <a:xfrm>
            <a:off x="9258300" y="9324975"/>
            <a:ext cx="8001000" cy="9525"/>
          </a:xfrm>
          <a:prstGeom prst="rect">
            <a:avLst/>
          </a:prstGeom>
          <a:solidFill>
            <a:srgbClr val="D9D5CB"/>
          </a:solidFill>
          <a:ln/>
        </p:spPr>
      </p:sp>
      <p:sp>
        <p:nvSpPr>
          <p:cNvPr id="39" name="Shape 36"/>
          <p:cNvSpPr/>
          <p:nvPr/>
        </p:nvSpPr>
        <p:spPr>
          <a:xfrm>
            <a:off x="9258300" y="8393609"/>
            <a:ext cx="8001000" cy="9525"/>
          </a:xfrm>
          <a:prstGeom prst="rect">
            <a:avLst/>
          </a:prstGeom>
          <a:solidFill>
            <a:srgbClr val="D9D5CB"/>
          </a:solidFill>
          <a:ln/>
        </p:spPr>
      </p:sp>
      <p:sp>
        <p:nvSpPr>
          <p:cNvPr id="40" name="Shape 37"/>
          <p:cNvSpPr/>
          <p:nvPr/>
        </p:nvSpPr>
        <p:spPr>
          <a:xfrm>
            <a:off x="9258300" y="8393609"/>
            <a:ext cx="38100" cy="940891"/>
          </a:xfrm>
          <a:prstGeom prst="rect">
            <a:avLst/>
          </a:prstGeom>
          <a:solidFill>
            <a:srgbClr val="53A89B"/>
          </a:solidFill>
          <a:ln/>
        </p:spPr>
      </p:sp>
      <p:sp>
        <p:nvSpPr>
          <p:cNvPr id="41" name="Shape 38"/>
          <p:cNvSpPr/>
          <p:nvPr/>
        </p:nvSpPr>
        <p:spPr>
          <a:xfrm>
            <a:off x="17249775" y="8393609"/>
            <a:ext cx="9525" cy="940891"/>
          </a:xfrm>
          <a:prstGeom prst="rect">
            <a:avLst/>
          </a:prstGeom>
          <a:solidFill>
            <a:srgbClr val="D9D5CB"/>
          </a:solidFill>
          <a:ln/>
        </p:spPr>
      </p:sp>
      <p:sp>
        <p:nvSpPr>
          <p:cNvPr id="42" name="Text 39"/>
          <p:cNvSpPr/>
          <p:nvPr/>
        </p:nvSpPr>
        <p:spPr>
          <a:xfrm>
            <a:off x="9505950" y="8555534"/>
            <a:ext cx="7774305"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b="1" spc="-6" kern="0" dirty="0">
                <a:solidFill>
                  <a:srgbClr val="53A89B"/>
                </a:solidFill>
                <a:latin typeface="Arial" pitchFamily="34" charset="0"/>
                <a:ea typeface="Arial" pitchFamily="34" charset="-122"/>
                <a:cs typeface="Arial" pitchFamily="34" charset="-120"/>
              </a:rPr>
              <a:t>Carbon system </a:t>
            </a:r>
            <a:pPr algn="l" indent="0" marL="0">
              <a:lnSpc>
                <a:spcPct val="135000"/>
              </a:lnSpc>
              <a:buNone/>
            </a:pPr>
            <a:r>
              <a:rPr lang="en-US" sz="1800" spc="-6" kern="0" dirty="0">
                <a:solidFill>
                  <a:srgbClr val="152F37"/>
                </a:solidFill>
                <a:highlight>
                  <a:srgbClr val="FFFDF7"/>
                </a:highlight>
                <a:latin typeface="Arial" pitchFamily="34" charset="0"/>
                <a:ea typeface="Arial" pitchFamily="34" charset="-122"/>
                <a:cs typeface="Arial" pitchFamily="34" charset="-120"/>
              </a:rPr>
              <a:t>— lone pH ≠ inorganic carbon; needs alkalinity / DIC / pCO₂.</a:t>
            </a:r>
            <a:endParaRPr lang="en-US" sz="1800" dirty="0"/>
          </a:p>
        </p:txBody>
      </p:sp>
      <p:sp>
        <p:nvSpPr>
          <p:cNvPr id="43" name="Text 40"/>
          <p:cNvSpPr/>
          <p:nvPr/>
        </p:nvSpPr>
        <p:spPr>
          <a:xfrm>
            <a:off x="1028700" y="9648825"/>
            <a:ext cx="4007538"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HOW IT WORKS · 10 OF 16</a:t>
            </a:r>
            <a:endParaRPr lang="en-US" sz="1800" dirty="0"/>
          </a:p>
        </p:txBody>
      </p:sp>
      <p:sp>
        <p:nvSpPr>
          <p:cNvPr id="44" name="Text 41"/>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7007780" y="481012"/>
            <a:ext cx="327720"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11</a:t>
            </a:r>
            <a:endParaRPr lang="en-US" sz="1800" dirty="0"/>
          </a:p>
        </p:txBody>
      </p:sp>
      <p:sp>
        <p:nvSpPr>
          <p:cNvPr id="5" name="Shape 2"/>
          <p:cNvSpPr/>
          <p:nvPr/>
        </p:nvSpPr>
        <p:spPr>
          <a:xfrm>
            <a:off x="1028700" y="876300"/>
            <a:ext cx="1473845" cy="428625"/>
          </a:xfrm>
          <a:prstGeom prst="roundRect">
            <a:avLst>
              <a:gd name="adj" fmla="val 50000"/>
            </a:avLst>
          </a:prstGeom>
          <a:solidFill>
            <a:srgbClr val="53A89B"/>
          </a:solidFill>
          <a:ln/>
        </p:spPr>
      </p:sp>
      <p:sp>
        <p:nvSpPr>
          <p:cNvPr id="6" name="Text 3"/>
          <p:cNvSpPr/>
          <p:nvPr/>
        </p:nvSpPr>
        <p:spPr>
          <a:xfrm>
            <a:off x="1162050" y="952500"/>
            <a:ext cx="1283345"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FFFFFF"/>
                </a:solidFill>
                <a:latin typeface="Courier New" pitchFamily="34" charset="0"/>
                <a:ea typeface="Courier New" pitchFamily="34" charset="-122"/>
                <a:cs typeface="Courier New" pitchFamily="34" charset="-120"/>
              </a:rPr>
              <a:t>PIPELINE</a:t>
            </a:r>
            <a:endParaRPr lang="en-US" sz="1650" dirty="0"/>
          </a:p>
        </p:txBody>
      </p:sp>
      <p:sp>
        <p:nvSpPr>
          <p:cNvPr id="7" name="Text 4"/>
          <p:cNvSpPr/>
          <p:nvPr/>
        </p:nvSpPr>
        <p:spPr>
          <a:xfrm>
            <a:off x="2654945" y="942975"/>
            <a:ext cx="5905765"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B6B6E"/>
                </a:solidFill>
                <a:latin typeface="Courier New" pitchFamily="34" charset="0"/>
                <a:ea typeface="Courier New" pitchFamily="34" charset="-122"/>
                <a:cs typeface="Courier New" pitchFamily="34" charset="-120"/>
              </a:rPr>
              <a:t>OCCURRENCE · OBIS → DATA EXPLORER</a:t>
            </a:r>
            <a:endParaRPr lang="en-US" sz="1800" dirty="0"/>
          </a:p>
        </p:txBody>
      </p:sp>
      <p:sp>
        <p:nvSpPr>
          <p:cNvPr id="8" name="Shape 5"/>
          <p:cNvSpPr/>
          <p:nvPr/>
        </p:nvSpPr>
        <p:spPr>
          <a:xfrm>
            <a:off x="1028700" y="1409700"/>
            <a:ext cx="3261568" cy="647700"/>
          </a:xfrm>
          <a:prstGeom prst="roundRect">
            <a:avLst>
              <a:gd name="adj" fmla="val 11765"/>
            </a:avLst>
          </a:prstGeom>
          <a:solidFill>
            <a:srgbClr val="53A89B">
              <a:alpha val="16000"/>
            </a:srgbClr>
          </a:solidFill>
          <a:ln/>
        </p:spPr>
      </p:sp>
      <p:sp>
        <p:nvSpPr>
          <p:cNvPr id="9" name="Text 6"/>
          <p:cNvSpPr/>
          <p:nvPr/>
        </p:nvSpPr>
        <p:spPr>
          <a:xfrm>
            <a:off x="1162050" y="1466850"/>
            <a:ext cx="3092715" cy="571500"/>
          </a:xfrm>
          <a:prstGeom prst="rect">
            <a:avLst/>
          </a:prstGeom>
          <a:noFill/>
          <a:ln/>
        </p:spPr>
        <p:txBody>
          <a:bodyPr wrap="square" lIns="25400" tIns="25400" rIns="25400" bIns="25400" rtlCol="0" anchor="t">
            <a:normAutofit/>
          </a:bodyPr>
          <a:lstStyle/>
          <a:p>
            <a:pPr algn="l" indent="0" marL="0">
              <a:lnSpc>
                <a:spcPct val="104000"/>
              </a:lnSpc>
              <a:buNone/>
            </a:pPr>
            <a:r>
              <a:rPr lang="en-US" sz="3159" b="1" spc="-81" kern="0" dirty="0">
                <a:solidFill>
                  <a:srgbClr val="152F37"/>
                </a:solidFill>
                <a:latin typeface="Courier New" pitchFamily="34" charset="0"/>
                <a:ea typeface="Courier New" pitchFamily="34" charset="-122"/>
                <a:cs typeface="Courier New" pitchFamily="34" charset="-120"/>
              </a:rPr>
              <a:t>OBISHarvester</a:t>
            </a:r>
            <a:endParaRPr lang="en-US" sz="3159" dirty="0"/>
          </a:p>
        </p:txBody>
      </p:sp>
      <p:sp>
        <p:nvSpPr>
          <p:cNvPr id="10" name="Shape 7"/>
          <p:cNvSpPr/>
          <p:nvPr/>
        </p:nvSpPr>
        <p:spPr>
          <a:xfrm>
            <a:off x="1028700" y="2426494"/>
            <a:ext cx="2705100" cy="1078111"/>
          </a:xfrm>
          <a:prstGeom prst="roundRect">
            <a:avLst>
              <a:gd name="adj" fmla="val 10602"/>
            </a:avLst>
          </a:prstGeom>
          <a:solidFill>
            <a:srgbClr val="53A89B">
              <a:alpha val="14000"/>
            </a:srgbClr>
          </a:solidFill>
          <a:ln w="9525">
            <a:solidFill>
              <a:srgbClr val="C6E3DF"/>
            </a:solidFill>
            <a:prstDash val="solid"/>
          </a:ln>
        </p:spPr>
      </p:sp>
      <p:sp>
        <p:nvSpPr>
          <p:cNvPr id="11" name="Text 8"/>
          <p:cNvSpPr/>
          <p:nvPr/>
        </p:nvSpPr>
        <p:spPr>
          <a:xfrm>
            <a:off x="1358205" y="2636044"/>
            <a:ext cx="2122289" cy="333375"/>
          </a:xfrm>
          <a:prstGeom prst="rect">
            <a:avLst/>
          </a:prstGeom>
          <a:noFill/>
          <a:ln/>
        </p:spPr>
        <p:txBody>
          <a:bodyPr wrap="square" lIns="0" tIns="0" rIns="0" bIns="0" rtlCol="0" anchor="t">
            <a:normAutofit/>
          </a:bodyPr>
          <a:lstStyle/>
          <a:p>
            <a:pPr algn="ctr" indent="0" marL="0">
              <a:lnSpc>
                <a:spcPct val="125000"/>
              </a:lnSpc>
              <a:buNone/>
            </a:pPr>
            <a:r>
              <a:rPr lang="en-US" sz="1800" spc="-6" kern="0" dirty="0">
                <a:solidFill>
                  <a:srgbClr val="152F37"/>
                </a:solidFill>
                <a:latin typeface="Courier New" pitchFamily="34" charset="0"/>
                <a:ea typeface="Courier New" pitchFamily="34" charset="-122"/>
                <a:cs typeface="Courier New" pitchFamily="34" charset="-120"/>
              </a:rPr>
              <a:t>OBIS S3 Parquet</a:t>
            </a:r>
            <a:endParaRPr lang="en-US" sz="1800" dirty="0"/>
          </a:p>
        </p:txBody>
      </p:sp>
      <p:sp>
        <p:nvSpPr>
          <p:cNvPr id="12" name="Text 9"/>
          <p:cNvSpPr/>
          <p:nvPr/>
        </p:nvSpPr>
        <p:spPr>
          <a:xfrm>
            <a:off x="1247775" y="2988469"/>
            <a:ext cx="2266950" cy="335161"/>
          </a:xfrm>
          <a:prstGeom prst="rect">
            <a:avLst/>
          </a:prstGeom>
          <a:noFill/>
          <a:ln/>
        </p:spPr>
        <p:txBody>
          <a:bodyPr wrap="square" lIns="25400" tIns="25400" rIns="25400" bIns="25400" rtlCol="0" anchor="t">
            <a:normAutofit/>
          </a:bodyPr>
          <a:lstStyle/>
          <a:p>
            <a:pPr algn="ctr" indent="0" marL="0">
              <a:lnSpc>
                <a:spcPct val="130000"/>
              </a:lnSpc>
              <a:buNone/>
            </a:pPr>
            <a:r>
              <a:rPr lang="en-US" sz="1800" spc="36" kern="0" dirty="0">
                <a:solidFill>
                  <a:srgbClr val="152F37">
                    <a:alpha val="65000"/>
                  </a:srgbClr>
                </a:solidFill>
                <a:latin typeface="Courier New" pitchFamily="34" charset="0"/>
                <a:ea typeface="Courier New" pitchFamily="34" charset="-122"/>
                <a:cs typeface="Courier New" pitchFamily="34" charset="-120"/>
              </a:rPr>
              <a:t>primary path</a:t>
            </a:r>
            <a:endParaRPr lang="en-US" sz="1800" dirty="0"/>
          </a:p>
        </p:txBody>
      </p:sp>
      <p:sp>
        <p:nvSpPr>
          <p:cNvPr id="13" name="Text 10"/>
          <p:cNvSpPr/>
          <p:nvPr/>
        </p:nvSpPr>
        <p:spPr>
          <a:xfrm>
            <a:off x="3905250" y="2789337"/>
            <a:ext cx="236041" cy="390525"/>
          </a:xfrm>
          <a:prstGeom prst="rect">
            <a:avLst/>
          </a:prstGeom>
          <a:noFill/>
          <a:ln/>
        </p:spPr>
        <p:txBody>
          <a:bodyPr wrap="square" lIns="25400" tIns="25400" rIns="25400" bIns="25400" rtlCol="0" anchor="t">
            <a:normAutofit/>
          </a:bodyPr>
          <a:lstStyle/>
          <a:p>
            <a:pPr algn="l" indent="0" marL="0">
              <a:buNone/>
            </a:pPr>
            <a:r>
              <a:rPr lang="en-US" sz="2100" b="1" spc="-6" kern="0" dirty="0">
                <a:solidFill>
                  <a:srgbClr val="53A89B"/>
                </a:solidFill>
                <a:latin typeface="Courier New" pitchFamily="34" charset="0"/>
                <a:ea typeface="Courier New" pitchFamily="34" charset="-122"/>
                <a:cs typeface="Courier New" pitchFamily="34" charset="-120"/>
              </a:rPr>
              <a:t>→</a:t>
            </a:r>
            <a:endParaRPr lang="en-US" sz="2100" dirty="0"/>
          </a:p>
        </p:txBody>
      </p:sp>
      <p:sp>
        <p:nvSpPr>
          <p:cNvPr id="14" name="Shape 11"/>
          <p:cNvSpPr/>
          <p:nvPr/>
        </p:nvSpPr>
        <p:spPr>
          <a:xfrm>
            <a:off x="4236541" y="2277963"/>
            <a:ext cx="3563838" cy="1375172"/>
          </a:xfrm>
          <a:prstGeom prst="roundRect">
            <a:avLst>
              <a:gd name="adj" fmla="val 8312"/>
            </a:avLst>
          </a:prstGeom>
          <a:solidFill>
            <a:srgbClr val="FFFDF7"/>
          </a:solidFill>
          <a:ln w="9525">
            <a:solidFill>
              <a:srgbClr val="D9D5CB"/>
            </a:solidFill>
            <a:prstDash val="solid"/>
          </a:ln>
        </p:spPr>
      </p:sp>
      <p:sp>
        <p:nvSpPr>
          <p:cNvPr id="15" name="Text 12"/>
          <p:cNvSpPr/>
          <p:nvPr/>
        </p:nvSpPr>
        <p:spPr>
          <a:xfrm>
            <a:off x="5200055" y="2487513"/>
            <a:ext cx="1713012" cy="333375"/>
          </a:xfrm>
          <a:prstGeom prst="rect">
            <a:avLst/>
          </a:prstGeom>
          <a:noFill/>
          <a:ln/>
        </p:spPr>
        <p:txBody>
          <a:bodyPr wrap="square" lIns="0" tIns="0" rIns="0" bIns="0" rtlCol="0" anchor="t">
            <a:normAutofit/>
          </a:bodyPr>
          <a:lstStyle/>
          <a:p>
            <a:pPr algn="ctr" indent="0" marL="0">
              <a:lnSpc>
                <a:spcPct val="125000"/>
              </a:lnSpc>
              <a:buNone/>
            </a:pPr>
            <a:r>
              <a:rPr lang="en-US" sz="1800" spc="-6" kern="0" dirty="0">
                <a:solidFill>
                  <a:srgbClr val="152F37"/>
                </a:solidFill>
                <a:latin typeface="Courier New" pitchFamily="34" charset="0"/>
                <a:ea typeface="Courier New" pitchFamily="34" charset="-122"/>
                <a:cs typeface="Courier New" pitchFamily="34" charset="-120"/>
              </a:rPr>
              <a:t>DuckDB query</a:t>
            </a:r>
            <a:endParaRPr lang="en-US" sz="1800" dirty="0"/>
          </a:p>
        </p:txBody>
      </p:sp>
      <p:sp>
        <p:nvSpPr>
          <p:cNvPr id="16" name="Text 13"/>
          <p:cNvSpPr/>
          <p:nvPr/>
        </p:nvSpPr>
        <p:spPr>
          <a:xfrm>
            <a:off x="4447974" y="2839938"/>
            <a:ext cx="3140973" cy="632222"/>
          </a:xfrm>
          <a:prstGeom prst="rect">
            <a:avLst/>
          </a:prstGeom>
          <a:noFill/>
          <a:ln/>
        </p:spPr>
        <p:txBody>
          <a:bodyPr wrap="square" lIns="25400" tIns="25400" rIns="25400" bIns="25400" rtlCol="0" anchor="t">
            <a:normAutofit/>
          </a:bodyPr>
          <a:lstStyle/>
          <a:p>
            <a:pPr algn="ctr" indent="0" marL="0">
              <a:lnSpc>
                <a:spcPct val="130000"/>
              </a:lnSpc>
              <a:buNone/>
            </a:pPr>
            <a:r>
              <a:rPr lang="en-US" sz="1800" spc="36" kern="0" dirty="0">
                <a:solidFill>
                  <a:srgbClr val="5B6B6E"/>
                </a:solidFill>
                <a:latin typeface="Courier New" pitchFamily="34" charset="0"/>
                <a:ea typeface="Courier New" pitchFamily="34" charset="-122"/>
                <a:cs typeface="Courier New" pitchFamily="34" charset="-120"/>
              </a:rPr>
              <a:t>read_parquet over HTTPS</a:t>
            </a:r>
            <a:endParaRPr lang="en-US" sz="1800" dirty="0"/>
          </a:p>
        </p:txBody>
      </p:sp>
      <p:sp>
        <p:nvSpPr>
          <p:cNvPr id="17" name="Text 14"/>
          <p:cNvSpPr/>
          <p:nvPr/>
        </p:nvSpPr>
        <p:spPr>
          <a:xfrm>
            <a:off x="7971830" y="2789337"/>
            <a:ext cx="236041" cy="390525"/>
          </a:xfrm>
          <a:prstGeom prst="rect">
            <a:avLst/>
          </a:prstGeom>
          <a:noFill/>
          <a:ln/>
        </p:spPr>
        <p:txBody>
          <a:bodyPr wrap="square" lIns="25400" tIns="25400" rIns="25400" bIns="25400" rtlCol="0" anchor="t">
            <a:normAutofit/>
          </a:bodyPr>
          <a:lstStyle/>
          <a:p>
            <a:pPr algn="l" indent="0" marL="0">
              <a:buNone/>
            </a:pPr>
            <a:r>
              <a:rPr lang="en-US" sz="2100" b="1" spc="-6" kern="0" dirty="0">
                <a:solidFill>
                  <a:srgbClr val="53A89B"/>
                </a:solidFill>
                <a:latin typeface="Courier New" pitchFamily="34" charset="0"/>
                <a:ea typeface="Courier New" pitchFamily="34" charset="-122"/>
                <a:cs typeface="Courier New" pitchFamily="34" charset="-120"/>
              </a:rPr>
              <a:t>→</a:t>
            </a:r>
            <a:endParaRPr lang="en-US" sz="2100" dirty="0"/>
          </a:p>
        </p:txBody>
      </p:sp>
      <p:sp>
        <p:nvSpPr>
          <p:cNvPr id="18" name="Shape 15"/>
          <p:cNvSpPr/>
          <p:nvPr/>
        </p:nvSpPr>
        <p:spPr>
          <a:xfrm>
            <a:off x="8303121" y="2277963"/>
            <a:ext cx="3696295" cy="1375172"/>
          </a:xfrm>
          <a:prstGeom prst="roundRect">
            <a:avLst>
              <a:gd name="adj" fmla="val 8312"/>
            </a:avLst>
          </a:prstGeom>
          <a:solidFill>
            <a:srgbClr val="FFFDF7"/>
          </a:solidFill>
          <a:ln w="9525">
            <a:solidFill>
              <a:srgbClr val="D9D5CB"/>
            </a:solidFill>
            <a:prstDash val="solid"/>
          </a:ln>
        </p:spPr>
      </p:sp>
      <p:sp>
        <p:nvSpPr>
          <p:cNvPr id="19" name="Text 16"/>
          <p:cNvSpPr/>
          <p:nvPr/>
        </p:nvSpPr>
        <p:spPr>
          <a:xfrm>
            <a:off x="9264551" y="2487513"/>
            <a:ext cx="1849487" cy="333375"/>
          </a:xfrm>
          <a:prstGeom prst="rect">
            <a:avLst/>
          </a:prstGeom>
          <a:noFill/>
          <a:ln/>
        </p:spPr>
        <p:txBody>
          <a:bodyPr wrap="square" lIns="0" tIns="0" rIns="0" bIns="0" rtlCol="0" anchor="t">
            <a:normAutofit/>
          </a:bodyPr>
          <a:lstStyle/>
          <a:p>
            <a:pPr algn="ctr" indent="0" marL="0">
              <a:lnSpc>
                <a:spcPct val="125000"/>
              </a:lnSpc>
              <a:buNone/>
            </a:pPr>
            <a:r>
              <a:rPr lang="en-US" sz="1800" spc="-6" kern="0" dirty="0">
                <a:solidFill>
                  <a:srgbClr val="152F37"/>
                </a:solidFill>
                <a:latin typeface="Courier New" pitchFamily="34" charset="0"/>
                <a:ea typeface="Courier New" pitchFamily="34" charset="-122"/>
                <a:cs typeface="Courier New" pitchFamily="34" charset="-120"/>
              </a:rPr>
              <a:t>ObisGeoFilter</a:t>
            </a:r>
            <a:endParaRPr lang="en-US" sz="1800" dirty="0"/>
          </a:p>
        </p:txBody>
      </p:sp>
      <p:sp>
        <p:nvSpPr>
          <p:cNvPr id="20" name="Text 17"/>
          <p:cNvSpPr/>
          <p:nvPr/>
        </p:nvSpPr>
        <p:spPr>
          <a:xfrm>
            <a:off x="8512567" y="2839938"/>
            <a:ext cx="3277404" cy="632222"/>
          </a:xfrm>
          <a:prstGeom prst="rect">
            <a:avLst/>
          </a:prstGeom>
          <a:noFill/>
          <a:ln/>
        </p:spPr>
        <p:txBody>
          <a:bodyPr wrap="square" lIns="25400" tIns="25400" rIns="25400" bIns="25400" rtlCol="0" anchor="t">
            <a:normAutofit/>
          </a:bodyPr>
          <a:lstStyle/>
          <a:p>
            <a:pPr algn="ctr" indent="0" marL="0">
              <a:lnSpc>
                <a:spcPct val="130000"/>
              </a:lnSpc>
              <a:buNone/>
            </a:pPr>
            <a:r>
              <a:rPr lang="en-US" sz="1800" spc="36" kern="0" dirty="0">
                <a:solidFill>
                  <a:srgbClr val="5B6B6E"/>
                </a:solidFill>
                <a:latin typeface="Courier New" pitchFamily="34" charset="0"/>
                <a:ea typeface="Courier New" pitchFamily="34" charset="-122"/>
                <a:cs typeface="Courier New" pitchFamily="34" charset="-120"/>
              </a:rPr>
              <a:t>EEZ-exempt OBIS-CA / OTN</a:t>
            </a:r>
            <a:endParaRPr lang="en-US" sz="1800" dirty="0"/>
          </a:p>
        </p:txBody>
      </p:sp>
      <p:sp>
        <p:nvSpPr>
          <p:cNvPr id="21" name="Text 18"/>
          <p:cNvSpPr/>
          <p:nvPr/>
        </p:nvSpPr>
        <p:spPr>
          <a:xfrm>
            <a:off x="12170866" y="2789337"/>
            <a:ext cx="236041" cy="390525"/>
          </a:xfrm>
          <a:prstGeom prst="rect">
            <a:avLst/>
          </a:prstGeom>
          <a:noFill/>
          <a:ln/>
        </p:spPr>
        <p:txBody>
          <a:bodyPr wrap="square" lIns="25400" tIns="25400" rIns="25400" bIns="25400" rtlCol="0" anchor="t">
            <a:normAutofit/>
          </a:bodyPr>
          <a:lstStyle/>
          <a:p>
            <a:pPr algn="l" indent="0" marL="0">
              <a:buNone/>
            </a:pPr>
            <a:r>
              <a:rPr lang="en-US" sz="2100" b="1" spc="-6" kern="0" dirty="0">
                <a:solidFill>
                  <a:srgbClr val="53A89B"/>
                </a:solidFill>
                <a:latin typeface="Courier New" pitchFamily="34" charset="0"/>
                <a:ea typeface="Courier New" pitchFamily="34" charset="-122"/>
                <a:cs typeface="Courier New" pitchFamily="34" charset="-120"/>
              </a:rPr>
              <a:t>→</a:t>
            </a:r>
            <a:endParaRPr lang="en-US" sz="2100" dirty="0"/>
          </a:p>
        </p:txBody>
      </p:sp>
      <p:sp>
        <p:nvSpPr>
          <p:cNvPr id="22" name="Shape 19"/>
          <p:cNvSpPr/>
          <p:nvPr/>
        </p:nvSpPr>
        <p:spPr>
          <a:xfrm>
            <a:off x="12502158" y="2277963"/>
            <a:ext cx="4757142" cy="1375172"/>
          </a:xfrm>
          <a:prstGeom prst="roundRect">
            <a:avLst>
              <a:gd name="adj" fmla="val 8312"/>
            </a:avLst>
          </a:prstGeom>
          <a:solidFill>
            <a:srgbClr val="FFFDF7"/>
          </a:solidFill>
          <a:ln w="9525">
            <a:solidFill>
              <a:srgbClr val="D9D5CB"/>
            </a:solidFill>
            <a:prstDash val="solid"/>
          </a:ln>
        </p:spPr>
      </p:sp>
      <p:sp>
        <p:nvSpPr>
          <p:cNvPr id="23" name="Text 20"/>
          <p:cNvSpPr/>
          <p:nvPr/>
        </p:nvSpPr>
        <p:spPr>
          <a:xfrm>
            <a:off x="14198203" y="2487513"/>
            <a:ext cx="1441252" cy="333375"/>
          </a:xfrm>
          <a:prstGeom prst="rect">
            <a:avLst/>
          </a:prstGeom>
          <a:noFill/>
          <a:ln/>
        </p:spPr>
        <p:txBody>
          <a:bodyPr wrap="square" lIns="0" tIns="0" rIns="0" bIns="0" rtlCol="0" anchor="t">
            <a:normAutofit/>
          </a:bodyPr>
          <a:lstStyle/>
          <a:p>
            <a:pPr algn="ctr" indent="0" marL="0">
              <a:lnSpc>
                <a:spcPct val="125000"/>
              </a:lnSpc>
              <a:buNone/>
            </a:pPr>
            <a:r>
              <a:rPr lang="en-US" sz="1800" spc="-6" kern="0" dirty="0">
                <a:solidFill>
                  <a:srgbClr val="152F37"/>
                </a:solidFill>
                <a:latin typeface="Courier New" pitchFamily="34" charset="0"/>
                <a:ea typeface="Courier New" pitchFamily="34" charset="-122"/>
                <a:cs typeface="Courier New" pitchFamily="34" charset="-120"/>
              </a:rPr>
              <a:t>¹⁄₁₂° grid</a:t>
            </a:r>
            <a:endParaRPr lang="en-US" sz="1800" dirty="0"/>
          </a:p>
        </p:txBody>
      </p:sp>
      <p:sp>
        <p:nvSpPr>
          <p:cNvPr id="24" name="Text 21"/>
          <p:cNvSpPr/>
          <p:nvPr/>
        </p:nvSpPr>
        <p:spPr>
          <a:xfrm>
            <a:off x="12695691" y="2839938"/>
            <a:ext cx="4370076" cy="632222"/>
          </a:xfrm>
          <a:prstGeom prst="rect">
            <a:avLst/>
          </a:prstGeom>
          <a:noFill/>
          <a:ln/>
        </p:spPr>
        <p:txBody>
          <a:bodyPr wrap="square" lIns="25400" tIns="25400" rIns="25400" bIns="25400" rtlCol="0" anchor="t">
            <a:normAutofit/>
          </a:bodyPr>
          <a:lstStyle/>
          <a:p>
            <a:pPr algn="ctr" indent="0" marL="0">
              <a:lnSpc>
                <a:spcPct val="130000"/>
              </a:lnSpc>
              <a:buNone/>
            </a:pPr>
            <a:r>
              <a:rPr lang="en-US" sz="1800" spc="36" kern="0" dirty="0">
                <a:solidFill>
                  <a:srgbClr val="5B6B6E"/>
                </a:solidFill>
                <a:latin typeface="Courier New" pitchFamily="34" charset="0"/>
                <a:ea typeface="Courier New" pitchFamily="34" charset="-122"/>
                <a:cs typeface="Courier New" pitchFamily="34" charset="-120"/>
              </a:rPr>
              <a:t>~5 nm cells · per-cell name list</a:t>
            </a:r>
            <a:endParaRPr lang="en-US" sz="1800" dirty="0"/>
          </a:p>
        </p:txBody>
      </p:sp>
      <p:sp>
        <p:nvSpPr>
          <p:cNvPr id="25" name="Shape 22"/>
          <p:cNvSpPr/>
          <p:nvPr/>
        </p:nvSpPr>
        <p:spPr>
          <a:xfrm>
            <a:off x="1028700" y="3919835"/>
            <a:ext cx="5900291" cy="1078111"/>
          </a:xfrm>
          <a:prstGeom prst="roundRect">
            <a:avLst>
              <a:gd name="adj" fmla="val 10602"/>
            </a:avLst>
          </a:prstGeom>
          <a:solidFill>
            <a:srgbClr val="FDF6E3"/>
          </a:solidFill>
          <a:ln w="9525">
            <a:solidFill>
              <a:srgbClr val="E6D59A"/>
            </a:solidFill>
            <a:prstDash val="solid"/>
          </a:ln>
        </p:spPr>
      </p:sp>
      <p:sp>
        <p:nvSpPr>
          <p:cNvPr id="26" name="Text 23"/>
          <p:cNvSpPr/>
          <p:nvPr/>
        </p:nvSpPr>
        <p:spPr>
          <a:xfrm>
            <a:off x="3092202" y="4129385"/>
            <a:ext cx="1849487" cy="333375"/>
          </a:xfrm>
          <a:prstGeom prst="rect">
            <a:avLst/>
          </a:prstGeom>
          <a:noFill/>
          <a:ln/>
        </p:spPr>
        <p:txBody>
          <a:bodyPr wrap="square" lIns="0" tIns="0" rIns="0" bIns="0" rtlCol="0" anchor="t">
            <a:normAutofit/>
          </a:bodyPr>
          <a:lstStyle/>
          <a:p>
            <a:pPr algn="ctr" indent="0" marL="0">
              <a:lnSpc>
                <a:spcPct val="125000"/>
              </a:lnSpc>
              <a:buNone/>
            </a:pPr>
            <a:r>
              <a:rPr lang="en-US" sz="1800" spc="-6" kern="0" dirty="0">
                <a:solidFill>
                  <a:srgbClr val="7A5A10"/>
                </a:solidFill>
                <a:latin typeface="Courier New" pitchFamily="34" charset="0"/>
                <a:ea typeface="Courier New" pitchFamily="34" charset="-122"/>
                <a:cs typeface="Courier New" pitchFamily="34" charset="-120"/>
              </a:rPr>
              <a:t>REST fallback</a:t>
            </a:r>
            <a:endParaRPr lang="en-US" sz="1800" dirty="0"/>
          </a:p>
        </p:txBody>
      </p:sp>
      <p:sp>
        <p:nvSpPr>
          <p:cNvPr id="27" name="Text 24"/>
          <p:cNvSpPr/>
          <p:nvPr/>
        </p:nvSpPr>
        <p:spPr>
          <a:xfrm>
            <a:off x="1205086" y="4481810"/>
            <a:ext cx="5547519" cy="335161"/>
          </a:xfrm>
          <a:prstGeom prst="rect">
            <a:avLst/>
          </a:prstGeom>
          <a:noFill/>
          <a:ln/>
        </p:spPr>
        <p:txBody>
          <a:bodyPr wrap="square" lIns="25400" tIns="25400" rIns="25400" bIns="25400" rtlCol="0" anchor="t">
            <a:normAutofit/>
          </a:bodyPr>
          <a:lstStyle/>
          <a:p>
            <a:pPr algn="ctr" indent="0" marL="0">
              <a:lnSpc>
                <a:spcPct val="130000"/>
              </a:lnSpc>
              <a:buNone/>
            </a:pPr>
            <a:r>
              <a:rPr lang="en-US" sz="1800" spc="36" kern="0" dirty="0">
                <a:solidFill>
                  <a:srgbClr val="5B6B6E"/>
                </a:solidFill>
                <a:latin typeface="Courier New" pitchFamily="34" charset="0"/>
                <a:ea typeface="Courier New" pitchFamily="34" charset="-122"/>
                <a:cs typeface="Courier New" pitchFamily="34" charset="-120"/>
              </a:rPr>
              <a:t>cursor pagination · embargoed datasets</a:t>
            </a:r>
            <a:endParaRPr lang="en-US" sz="1800" dirty="0"/>
          </a:p>
        </p:txBody>
      </p:sp>
      <p:sp>
        <p:nvSpPr>
          <p:cNvPr id="28" name="Text 25"/>
          <p:cNvSpPr/>
          <p:nvPr/>
        </p:nvSpPr>
        <p:spPr>
          <a:xfrm>
            <a:off x="7100441" y="4282678"/>
            <a:ext cx="236041" cy="390525"/>
          </a:xfrm>
          <a:prstGeom prst="rect">
            <a:avLst/>
          </a:prstGeom>
          <a:noFill/>
          <a:ln/>
        </p:spPr>
        <p:txBody>
          <a:bodyPr wrap="square" lIns="25400" tIns="25400" rIns="25400" bIns="25400" rtlCol="0" anchor="t">
            <a:normAutofit/>
          </a:bodyPr>
          <a:lstStyle/>
          <a:p>
            <a:pPr algn="l" indent="0" marL="0">
              <a:buNone/>
            </a:pPr>
            <a:r>
              <a:rPr lang="en-US" sz="2100" b="1" spc="-6" kern="0" dirty="0">
                <a:solidFill>
                  <a:srgbClr val="B8924A"/>
                </a:solidFill>
                <a:latin typeface="Courier New" pitchFamily="34" charset="0"/>
                <a:ea typeface="Courier New" pitchFamily="34" charset="-122"/>
                <a:cs typeface="Courier New" pitchFamily="34" charset="-120"/>
              </a:rPr>
              <a:t>↗</a:t>
            </a:r>
            <a:endParaRPr lang="en-US" sz="2100" dirty="0"/>
          </a:p>
        </p:txBody>
      </p:sp>
      <p:sp>
        <p:nvSpPr>
          <p:cNvPr id="29" name="Text 26"/>
          <p:cNvSpPr/>
          <p:nvPr/>
        </p:nvSpPr>
        <p:spPr>
          <a:xfrm>
            <a:off x="7431732" y="4311253"/>
            <a:ext cx="2122289" cy="333375"/>
          </a:xfrm>
          <a:prstGeom prst="rect">
            <a:avLst/>
          </a:prstGeom>
          <a:noFill/>
          <a:ln/>
        </p:spPr>
        <p:txBody>
          <a:bodyPr wrap="square" lIns="25400" tIns="25400" rIns="25400" bIns="25400" rtlCol="0" anchor="t">
            <a:normAutofit/>
          </a:bodyPr>
          <a:lstStyle/>
          <a:p>
            <a:pPr algn="l" indent="0" marL="0">
              <a:buNone/>
            </a:pPr>
            <a:r>
              <a:rPr lang="en-US" sz="1800" spc="-6" kern="0" dirty="0">
                <a:solidFill>
                  <a:srgbClr val="5B6B6E"/>
                </a:solidFill>
                <a:latin typeface="Courier New" pitchFamily="34" charset="0"/>
                <a:ea typeface="Courier New" pitchFamily="34" charset="-122"/>
                <a:cs typeface="Courier New" pitchFamily="34" charset="-120"/>
              </a:rPr>
              <a:t>joins same flow</a:t>
            </a:r>
            <a:endParaRPr lang="en-US" sz="1800" dirty="0"/>
          </a:p>
        </p:txBody>
      </p:sp>
      <p:sp>
        <p:nvSpPr>
          <p:cNvPr id="30" name="Text 27"/>
          <p:cNvSpPr/>
          <p:nvPr/>
        </p:nvSpPr>
        <p:spPr>
          <a:xfrm>
            <a:off x="9649271" y="4282678"/>
            <a:ext cx="236041" cy="390525"/>
          </a:xfrm>
          <a:prstGeom prst="rect">
            <a:avLst/>
          </a:prstGeom>
          <a:noFill/>
          <a:ln/>
        </p:spPr>
        <p:txBody>
          <a:bodyPr wrap="square" lIns="25400" tIns="25400" rIns="25400" bIns="25400" rtlCol="0" anchor="t">
            <a:normAutofit/>
          </a:bodyPr>
          <a:lstStyle/>
          <a:p>
            <a:pPr algn="l" indent="0" marL="0">
              <a:buNone/>
            </a:pPr>
            <a:r>
              <a:rPr lang="en-US" sz="2100" b="1" spc="-6" kern="0" dirty="0">
                <a:solidFill>
                  <a:srgbClr val="53A89B"/>
                </a:solidFill>
                <a:latin typeface="Courier New" pitchFamily="34" charset="0"/>
                <a:ea typeface="Courier New" pitchFamily="34" charset="-122"/>
                <a:cs typeface="Courier New" pitchFamily="34" charset="-120"/>
              </a:rPr>
              <a:t>→</a:t>
            </a:r>
            <a:endParaRPr lang="en-US" sz="2100" dirty="0"/>
          </a:p>
        </p:txBody>
      </p:sp>
      <p:sp>
        <p:nvSpPr>
          <p:cNvPr id="31" name="Shape 28"/>
          <p:cNvSpPr/>
          <p:nvPr/>
        </p:nvSpPr>
        <p:spPr>
          <a:xfrm>
            <a:off x="9980563" y="3919835"/>
            <a:ext cx="3915966" cy="1078111"/>
          </a:xfrm>
          <a:prstGeom prst="roundRect">
            <a:avLst>
              <a:gd name="adj" fmla="val 10602"/>
            </a:avLst>
          </a:prstGeom>
          <a:solidFill>
            <a:srgbClr val="53A89B">
              <a:alpha val="14000"/>
            </a:srgbClr>
          </a:solidFill>
          <a:ln w="9525">
            <a:solidFill>
              <a:srgbClr val="C6E3DF"/>
            </a:solidFill>
            <a:prstDash val="solid"/>
          </a:ln>
        </p:spPr>
      </p:sp>
      <p:sp>
        <p:nvSpPr>
          <p:cNvPr id="32" name="Text 29"/>
          <p:cNvSpPr/>
          <p:nvPr/>
        </p:nvSpPr>
        <p:spPr>
          <a:xfrm>
            <a:off x="10779026" y="4129385"/>
            <a:ext cx="2395091" cy="333375"/>
          </a:xfrm>
          <a:prstGeom prst="rect">
            <a:avLst/>
          </a:prstGeom>
          <a:noFill/>
          <a:ln/>
        </p:spPr>
        <p:txBody>
          <a:bodyPr wrap="square" lIns="0" tIns="0" rIns="0" bIns="0" rtlCol="0" anchor="t">
            <a:normAutofit/>
          </a:bodyPr>
          <a:lstStyle/>
          <a:p>
            <a:pPr algn="ctr" indent="0" marL="0">
              <a:lnSpc>
                <a:spcPct val="125000"/>
              </a:lnSpc>
              <a:buNone/>
            </a:pPr>
            <a:r>
              <a:rPr lang="en-US" sz="1800" spc="-6" kern="0" dirty="0">
                <a:solidFill>
                  <a:srgbClr val="152F37"/>
                </a:solidFill>
                <a:latin typeface="Courier New" pitchFamily="34" charset="0"/>
                <a:ea typeface="Courier New" pitchFamily="34" charset="-122"/>
                <a:cs typeface="Courier New" pitchFamily="34" charset="-120"/>
              </a:rPr>
              <a:t>_enrich_with_ckan</a:t>
            </a:r>
            <a:endParaRPr lang="en-US" sz="1800" dirty="0"/>
          </a:p>
        </p:txBody>
      </p:sp>
      <p:sp>
        <p:nvSpPr>
          <p:cNvPr id="33" name="Text 30"/>
          <p:cNvSpPr/>
          <p:nvPr/>
        </p:nvSpPr>
        <p:spPr>
          <a:xfrm>
            <a:off x="10186714" y="4481810"/>
            <a:ext cx="3503664" cy="335161"/>
          </a:xfrm>
          <a:prstGeom prst="rect">
            <a:avLst/>
          </a:prstGeom>
          <a:noFill/>
          <a:ln/>
        </p:spPr>
        <p:txBody>
          <a:bodyPr wrap="square" lIns="25400" tIns="25400" rIns="25400" bIns="25400" rtlCol="0" anchor="t">
            <a:normAutofit/>
          </a:bodyPr>
          <a:lstStyle/>
          <a:p>
            <a:pPr algn="ctr" indent="0" marL="0">
              <a:lnSpc>
                <a:spcPct val="130000"/>
              </a:lnSpc>
              <a:buNone/>
            </a:pPr>
            <a:r>
              <a:rPr lang="en-US" sz="1800" spc="36" kern="0" dirty="0">
                <a:solidFill>
                  <a:srgbClr val="152F37">
                    <a:alpha val="65000"/>
                  </a:srgbClr>
                </a:solidFill>
                <a:latin typeface="Courier New" pitchFamily="34" charset="0"/>
                <a:ea typeface="Courier New" pitchFamily="34" charset="-122"/>
                <a:cs typeface="Courier New" pitchFamily="34" charset="-120"/>
              </a:rPr>
              <a:t>FR titles · curated EOVs</a:t>
            </a:r>
            <a:endParaRPr lang="en-US" sz="1800" dirty="0"/>
          </a:p>
        </p:txBody>
      </p:sp>
      <p:sp>
        <p:nvSpPr>
          <p:cNvPr id="34" name="Text 31"/>
          <p:cNvSpPr/>
          <p:nvPr/>
        </p:nvSpPr>
        <p:spPr>
          <a:xfrm>
            <a:off x="14067979" y="4282678"/>
            <a:ext cx="236041" cy="390525"/>
          </a:xfrm>
          <a:prstGeom prst="rect">
            <a:avLst/>
          </a:prstGeom>
          <a:noFill/>
          <a:ln/>
        </p:spPr>
        <p:txBody>
          <a:bodyPr wrap="square" lIns="25400" tIns="25400" rIns="25400" bIns="25400" rtlCol="0" anchor="t">
            <a:normAutofit/>
          </a:bodyPr>
          <a:lstStyle/>
          <a:p>
            <a:pPr algn="l" indent="0" marL="0">
              <a:buNone/>
            </a:pPr>
            <a:r>
              <a:rPr lang="en-US" sz="2100" b="1" spc="-6" kern="0" dirty="0">
                <a:solidFill>
                  <a:srgbClr val="53A89B"/>
                </a:solidFill>
                <a:latin typeface="Courier New" pitchFamily="34" charset="0"/>
                <a:ea typeface="Courier New" pitchFamily="34" charset="-122"/>
                <a:cs typeface="Courier New" pitchFamily="34" charset="-120"/>
              </a:rPr>
              <a:t>→</a:t>
            </a:r>
            <a:endParaRPr lang="en-US" sz="2100" dirty="0"/>
          </a:p>
        </p:txBody>
      </p:sp>
      <p:sp>
        <p:nvSpPr>
          <p:cNvPr id="35" name="Shape 32"/>
          <p:cNvSpPr/>
          <p:nvPr/>
        </p:nvSpPr>
        <p:spPr>
          <a:xfrm>
            <a:off x="14399270" y="3919835"/>
            <a:ext cx="2705100" cy="1078111"/>
          </a:xfrm>
          <a:prstGeom prst="roundRect">
            <a:avLst>
              <a:gd name="adj" fmla="val 10602"/>
            </a:avLst>
          </a:prstGeom>
          <a:solidFill>
            <a:srgbClr val="152F37"/>
          </a:solidFill>
          <a:ln w="9525">
            <a:solidFill>
              <a:srgbClr val="152F37"/>
            </a:solidFill>
            <a:prstDash val="solid"/>
          </a:ln>
        </p:spPr>
      </p:sp>
      <p:sp>
        <p:nvSpPr>
          <p:cNvPr id="36" name="Text 33"/>
          <p:cNvSpPr/>
          <p:nvPr/>
        </p:nvSpPr>
        <p:spPr>
          <a:xfrm>
            <a:off x="14933414" y="4129385"/>
            <a:ext cx="1713012" cy="333375"/>
          </a:xfrm>
          <a:prstGeom prst="rect">
            <a:avLst/>
          </a:prstGeom>
          <a:noFill/>
          <a:ln/>
        </p:spPr>
        <p:txBody>
          <a:bodyPr wrap="square" lIns="0" tIns="0" rIns="0" bIns="0" rtlCol="0" anchor="t">
            <a:normAutofit/>
          </a:bodyPr>
          <a:lstStyle/>
          <a:p>
            <a:pPr algn="ctr" indent="0" marL="0">
              <a:lnSpc>
                <a:spcPct val="125000"/>
              </a:lnSpc>
              <a:buNone/>
            </a:pPr>
            <a:r>
              <a:rPr lang="en-US" sz="1800" spc="-6" kern="0" dirty="0">
                <a:solidFill>
                  <a:srgbClr val="FFFFFF"/>
                </a:solidFill>
                <a:latin typeface="Courier New" pitchFamily="34" charset="0"/>
                <a:ea typeface="Courier New" pitchFamily="34" charset="-122"/>
                <a:cs typeface="Courier New" pitchFamily="34" charset="-120"/>
              </a:rPr>
              <a:t>CDE database</a:t>
            </a:r>
            <a:endParaRPr lang="en-US" sz="1800" dirty="0"/>
          </a:p>
        </p:txBody>
      </p:sp>
      <p:sp>
        <p:nvSpPr>
          <p:cNvPr id="37" name="Text 34"/>
          <p:cNvSpPr/>
          <p:nvPr/>
        </p:nvSpPr>
        <p:spPr>
          <a:xfrm>
            <a:off x="14618345" y="4481810"/>
            <a:ext cx="2266950" cy="335161"/>
          </a:xfrm>
          <a:prstGeom prst="rect">
            <a:avLst/>
          </a:prstGeom>
          <a:noFill/>
          <a:ln/>
        </p:spPr>
        <p:txBody>
          <a:bodyPr wrap="square" lIns="25400" tIns="25400" rIns="25400" bIns="25400" rtlCol="0" anchor="t">
            <a:normAutofit/>
          </a:bodyPr>
          <a:lstStyle/>
          <a:p>
            <a:pPr algn="ctr" indent="0" marL="0">
              <a:lnSpc>
                <a:spcPct val="130000"/>
              </a:lnSpc>
              <a:buNone/>
            </a:pPr>
            <a:r>
              <a:rPr lang="en-US" sz="1800" spc="36" kern="0" dirty="0">
                <a:solidFill>
                  <a:srgbClr val="FFFFFF">
                    <a:alpha val="70000"/>
                  </a:srgbClr>
                </a:solidFill>
                <a:latin typeface="Courier New" pitchFamily="34" charset="0"/>
                <a:ea typeface="Courier New" pitchFamily="34" charset="-122"/>
                <a:cs typeface="Courier New" pitchFamily="34" charset="-120"/>
              </a:rPr>
              <a:t>→ Data Explorer</a:t>
            </a:r>
            <a:endParaRPr lang="en-US" sz="1800" dirty="0"/>
          </a:p>
        </p:txBody>
      </p:sp>
      <p:sp>
        <p:nvSpPr>
          <p:cNvPr id="38" name="Shape 35"/>
          <p:cNvSpPr/>
          <p:nvPr/>
        </p:nvSpPr>
        <p:spPr>
          <a:xfrm>
            <a:off x="1028700" y="8203109"/>
            <a:ext cx="16230600" cy="1131391"/>
          </a:xfrm>
          <a:prstGeom prst="roundRect">
            <a:avLst>
              <a:gd name="adj" fmla="val 10103"/>
            </a:avLst>
          </a:prstGeom>
          <a:solidFill>
            <a:srgbClr val="53A89B">
              <a:alpha val="12000"/>
            </a:srgbClr>
          </a:solidFill>
          <a:ln w="9525">
            <a:solidFill>
              <a:srgbClr val="53A89B">
                <a:alpha val="32000"/>
              </a:srgbClr>
            </a:solidFill>
            <a:prstDash val="solid"/>
          </a:ln>
        </p:spPr>
      </p:sp>
      <p:sp>
        <p:nvSpPr>
          <p:cNvPr id="39" name="Text 36"/>
          <p:cNvSpPr/>
          <p:nvPr/>
        </p:nvSpPr>
        <p:spPr>
          <a:xfrm>
            <a:off x="1304925" y="8422184"/>
            <a:ext cx="16165068"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spc="-6" kern="0" dirty="0">
                <a:solidFill>
                  <a:srgbClr val="53A89B"/>
                </a:solidFill>
                <a:latin typeface="Arial" pitchFamily="34" charset="0"/>
                <a:ea typeface="Arial" pitchFamily="34" charset="-122"/>
                <a:cs typeface="Arial" pitchFamily="34" charset="-120"/>
              </a:rPr>
              <a:t>Two design choices worth keeping: </a:t>
            </a:r>
            <a:pPr algn="l" indent="0" marL="0">
              <a:lnSpc>
                <a:spcPct val="140000"/>
              </a:lnSpc>
              <a:buNone/>
            </a:pPr>
            <a:r>
              <a:rPr lang="en-US" sz="1950" spc="-6" kern="0" dirty="0">
                <a:solidFill>
                  <a:srgbClr val="152F37"/>
                </a:solidFill>
                <a:highlight>
                  <a:srgbClr val="53A89B"/>
                </a:highlight>
                <a:latin typeface="Arial" pitchFamily="34" charset="0"/>
                <a:ea typeface="Arial" pitchFamily="34" charset="-122"/>
                <a:cs typeface="Arial" pitchFamily="34" charset="-120"/>
              </a:rPr>
              <a:t>always-on REST fallback (Parquet lags + embargoed datasets), and the CKAN-back-enrichment edge so curators stay authoritative on EOVs and FR titles.</a:t>
            </a:r>
            <a:endParaRPr lang="en-US" sz="1950" dirty="0"/>
          </a:p>
        </p:txBody>
      </p:sp>
      <p:sp>
        <p:nvSpPr>
          <p:cNvPr id="40" name="Text 37"/>
          <p:cNvSpPr/>
          <p:nvPr/>
        </p:nvSpPr>
        <p:spPr>
          <a:xfrm>
            <a:off x="1028700" y="9648825"/>
            <a:ext cx="4007538"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HOW IT WORKS · 11 OF 16</a:t>
            </a:r>
            <a:endParaRPr lang="en-US" sz="1800" dirty="0"/>
          </a:p>
        </p:txBody>
      </p:sp>
      <p:sp>
        <p:nvSpPr>
          <p:cNvPr id="41" name="Text 38"/>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961197" y="481012"/>
            <a:ext cx="374303"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12</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WHAT'S NEW IN CDE</a:t>
            </a:r>
            <a:endParaRPr lang="en-US" sz="1800" dirty="0"/>
          </a:p>
        </p:txBody>
      </p:sp>
      <p:sp>
        <p:nvSpPr>
          <p:cNvPr id="6" name="Text 3"/>
          <p:cNvSpPr/>
          <p:nvPr/>
        </p:nvSpPr>
        <p:spPr>
          <a:xfrm>
            <a:off x="1028700" y="1419225"/>
            <a:ext cx="14716125"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Searching for </a:t>
            </a:r>
            <a:pPr algn="l" indent="0" marL="0">
              <a:lnSpc>
                <a:spcPct val="104000"/>
              </a:lnSpc>
              <a:buNone/>
            </a:pPr>
            <a:r>
              <a:rPr lang="en-US" sz="4500" b="1" i="1" spc="-90" kern="0" dirty="0">
                <a:solidFill>
                  <a:srgbClr val="53A89B"/>
                </a:solidFill>
                <a:latin typeface="Arial" pitchFamily="34" charset="0"/>
                <a:ea typeface="Arial" pitchFamily="34" charset="-122"/>
                <a:cs typeface="Arial" pitchFamily="34" charset="-120"/>
              </a:rPr>
              <a:t>gulls </a:t>
            </a:r>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 every taxon rank below resolves too.</a:t>
            </a:r>
            <a:endParaRPr lang="en-US" sz="4500" dirty="0"/>
          </a:p>
        </p:txBody>
      </p:sp>
      <p:sp>
        <p:nvSpPr>
          <p:cNvPr id="7" name="Shape 4"/>
          <p:cNvSpPr/>
          <p:nvPr/>
        </p:nvSpPr>
        <p:spPr>
          <a:xfrm>
            <a:off x="1028700" y="3569196"/>
            <a:ext cx="9354294" cy="5032325"/>
          </a:xfrm>
          <a:prstGeom prst="roundRect">
            <a:avLst>
              <a:gd name="adj" fmla="val 2650"/>
            </a:avLst>
          </a:prstGeom>
          <a:ln w="9525">
            <a:solidFill>
              <a:srgbClr val="D9D5CB"/>
            </a:solidFill>
            <a:prstDash val="solid"/>
          </a:ln>
          <a:effectLst>
            <a:outerShdw sx="100000" sy="100000" kx="0" ky="0" algn="bl" rotWithShape="0" blurRad="571500" dist="285750" dir="5400000">
              <a:srgbClr val="0B2236">
                <a:alpha val="45000"/>
              </a:srgbClr>
            </a:outerShdw>
          </a:effectLst>
        </p:spPr>
      </p:sp>
      <p:pic>
        <p:nvPicPr>
          <p:cNvPr id="8" name="Image 1" descr="preencoded.png">    </p:cNvPr>
          <p:cNvPicPr>
            <a:picLocks noChangeAspect="1"/>
          </p:cNvPicPr>
          <p:nvPr/>
        </p:nvPicPr>
        <p:blipFill>
          <a:blip r:embed="rId2"/>
          <a:srcRect l="0" r="0" t="0" b="0"/>
          <a:stretch/>
        </p:blipFill>
        <p:spPr>
          <a:xfrm>
            <a:off x="1028700" y="3569196"/>
            <a:ext cx="9354294" cy="5032325"/>
          </a:xfrm>
          <a:prstGeom prst="rect">
            <a:avLst/>
          </a:prstGeom>
        </p:spPr>
      </p:pic>
      <p:sp>
        <p:nvSpPr>
          <p:cNvPr id="9" name="Shape 5"/>
          <p:cNvSpPr/>
          <p:nvPr/>
        </p:nvSpPr>
        <p:spPr>
          <a:xfrm>
            <a:off x="10821144" y="3007668"/>
            <a:ext cx="6438007" cy="1922859"/>
          </a:xfrm>
          <a:prstGeom prst="roundRect">
            <a:avLst>
              <a:gd name="adj" fmla="val 7926"/>
            </a:avLst>
          </a:prstGeom>
          <a:solidFill>
            <a:srgbClr val="FFFDF7"/>
          </a:solidFill>
          <a:ln w="9525">
            <a:solidFill>
              <a:srgbClr val="D9D5CB"/>
            </a:solidFill>
            <a:prstDash val="solid"/>
          </a:ln>
        </p:spPr>
      </p:sp>
      <p:sp>
        <p:nvSpPr>
          <p:cNvPr id="10" name="Text 6"/>
          <p:cNvSpPr/>
          <p:nvPr/>
        </p:nvSpPr>
        <p:spPr>
          <a:xfrm>
            <a:off x="11116419" y="3264843"/>
            <a:ext cx="6022881" cy="314325"/>
          </a:xfrm>
          <a:prstGeom prst="rect">
            <a:avLst/>
          </a:prstGeom>
          <a:noFill/>
          <a:ln/>
        </p:spPr>
        <p:txBody>
          <a:bodyPr wrap="square" lIns="25400" tIns="25400" rIns="25400" bIns="25400" rtlCol="0" anchor="t">
            <a:normAutofit/>
          </a:bodyPr>
          <a:lstStyle/>
          <a:p>
            <a:pPr algn="l" indent="0" marL="0">
              <a:buNone/>
            </a:pPr>
            <a:r>
              <a:rPr lang="en-US" sz="1650" b="1" spc="264" kern="0" dirty="0">
                <a:solidFill>
                  <a:srgbClr val="53A89B"/>
                </a:solidFill>
                <a:latin typeface="Courier New" pitchFamily="34" charset="0"/>
                <a:ea typeface="Courier New" pitchFamily="34" charset="-122"/>
                <a:cs typeface="Courier New" pitchFamily="34" charset="-120"/>
              </a:rPr>
              <a:t>FEATURE 01</a:t>
            </a:r>
            <a:endParaRPr lang="en-US" sz="1650" dirty="0"/>
          </a:p>
        </p:txBody>
      </p:sp>
      <p:sp>
        <p:nvSpPr>
          <p:cNvPr id="11" name="Text 7"/>
          <p:cNvSpPr/>
          <p:nvPr/>
        </p:nvSpPr>
        <p:spPr>
          <a:xfrm>
            <a:off x="11116419" y="3636318"/>
            <a:ext cx="6022881"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spc="-6" kern="0" dirty="0">
                <a:solidFill>
                  <a:srgbClr val="152F37"/>
                </a:solidFill>
                <a:latin typeface="Arial" pitchFamily="34" charset="0"/>
                <a:ea typeface="Arial" pitchFamily="34" charset="-122"/>
                <a:cs typeface="Arial" pitchFamily="34" charset="-120"/>
              </a:rPr>
              <a:t>Scientific </a:t>
            </a:r>
            <a:pPr algn="l" indent="0" marL="0">
              <a:lnSpc>
                <a:spcPct val="115000"/>
              </a:lnSpc>
              <a:buNone/>
            </a:pPr>
            <a:r>
              <a:rPr lang="en-US" sz="2250" b="1" i="1" spc="-6" kern="0" dirty="0">
                <a:solidFill>
                  <a:srgbClr val="152F37"/>
                </a:solidFill>
                <a:latin typeface="Arial" pitchFamily="34" charset="0"/>
                <a:ea typeface="Arial" pitchFamily="34" charset="-122"/>
                <a:cs typeface="Arial" pitchFamily="34" charset="-120"/>
              </a:rPr>
              <a:t>or </a:t>
            </a:r>
            <a:pPr algn="l" indent="0" marL="0">
              <a:lnSpc>
                <a:spcPct val="115000"/>
              </a:lnSpc>
              <a:buNone/>
            </a:pPr>
            <a:r>
              <a:rPr lang="en-US" sz="2250" b="1" spc="-6" kern="0" dirty="0">
                <a:solidFill>
                  <a:srgbClr val="152F37"/>
                </a:solidFill>
                <a:latin typeface="Arial" pitchFamily="34" charset="0"/>
                <a:ea typeface="Arial" pitchFamily="34" charset="-122"/>
                <a:cs typeface="Arial" pitchFamily="34" charset="-120"/>
              </a:rPr>
              <a:t>vernacular name.</a:t>
            </a:r>
            <a:endParaRPr lang="en-US" sz="2250" dirty="0"/>
          </a:p>
        </p:txBody>
      </p:sp>
      <p:sp>
        <p:nvSpPr>
          <p:cNvPr id="12" name="Text 8"/>
          <p:cNvSpPr/>
          <p:nvPr/>
        </p:nvSpPr>
        <p:spPr>
          <a:xfrm>
            <a:off x="11116419" y="4060180"/>
            <a:ext cx="6022881"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spc="-6" kern="0" dirty="0">
                <a:solidFill>
                  <a:srgbClr val="152F37"/>
                </a:solidFill>
                <a:latin typeface="Arial" pitchFamily="34" charset="0"/>
                <a:ea typeface="Arial" pitchFamily="34" charset="-122"/>
                <a:cs typeface="Arial" pitchFamily="34" charset="-120"/>
              </a:rPr>
              <a:t>Type </a:t>
            </a:r>
            <a:pPr algn="l" indent="0" marL="0">
              <a:lnSpc>
                <a:spcPct val="140000"/>
              </a:lnSpc>
              <a:buNone/>
            </a:pPr>
            <a:r>
              <a:rPr lang="en-US" sz="1650" spc="-6" kern="0" dirty="0">
                <a:solidFill>
                  <a:srgbClr val="152F37"/>
                </a:solidFill>
                <a:highlight>
                  <a:srgbClr val="53A89B"/>
                </a:highlight>
                <a:latin typeface="Courier New" pitchFamily="34" charset="0"/>
                <a:ea typeface="Courier New" pitchFamily="34" charset="-122"/>
                <a:cs typeface="Courier New" pitchFamily="34" charset="-120"/>
              </a:rPr>
              <a:t>gulls </a:t>
            </a:r>
            <a:pPr algn="l" indent="0" marL="0">
              <a:lnSpc>
                <a:spcPct val="140000"/>
              </a:lnSpc>
              <a:buNone/>
            </a:pPr>
            <a:r>
              <a:rPr lang="en-US" sz="1725" spc="-6" kern="0" dirty="0">
                <a:solidFill>
                  <a:srgbClr val="152F37"/>
                </a:solidFill>
                <a:latin typeface="Arial" pitchFamily="34" charset="0"/>
                <a:ea typeface="Arial" pitchFamily="34" charset="-122"/>
                <a:cs typeface="Arial" pitchFamily="34" charset="-120"/>
              </a:rPr>
              <a:t>or </a:t>
            </a:r>
            <a:pPr algn="l" indent="0" marL="0">
              <a:lnSpc>
                <a:spcPct val="140000"/>
              </a:lnSpc>
              <a:buNone/>
            </a:pPr>
            <a:r>
              <a:rPr lang="en-US" sz="1650" spc="-6" kern="0" dirty="0">
                <a:solidFill>
                  <a:srgbClr val="152F37"/>
                </a:solidFill>
                <a:highlight>
                  <a:srgbClr val="53A89B"/>
                </a:highlight>
                <a:latin typeface="Courier New" pitchFamily="34" charset="0"/>
                <a:ea typeface="Courier New" pitchFamily="34" charset="-122"/>
                <a:cs typeface="Courier New" pitchFamily="34" charset="-120"/>
              </a:rPr>
              <a:t>Laridae </a:t>
            </a:r>
            <a:pPr algn="l" indent="0" marL="0">
              <a:lnSpc>
                <a:spcPct val="140000"/>
              </a:lnSpc>
              <a:buNone/>
            </a:pPr>
            <a:r>
              <a:rPr lang="en-US" sz="1725" spc="-6" kern="0" dirty="0">
                <a:solidFill>
                  <a:srgbClr val="152F37"/>
                </a:solidFill>
                <a:latin typeface="Arial" pitchFamily="34" charset="0"/>
                <a:ea typeface="Arial" pitchFamily="34" charset="-122"/>
                <a:cs typeface="Arial" pitchFamily="34" charset="-120"/>
              </a:rPr>
              <a:t>— both resolve to the same node via WoRMS.</a:t>
            </a:r>
            <a:endParaRPr lang="en-US" sz="1725" dirty="0"/>
          </a:p>
        </p:txBody>
      </p:sp>
      <p:sp>
        <p:nvSpPr>
          <p:cNvPr id="13" name="Shape 9"/>
          <p:cNvSpPr/>
          <p:nvPr/>
        </p:nvSpPr>
        <p:spPr>
          <a:xfrm>
            <a:off x="10821144" y="5101977"/>
            <a:ext cx="6438007" cy="1966912"/>
          </a:xfrm>
          <a:prstGeom prst="roundRect">
            <a:avLst>
              <a:gd name="adj" fmla="val 7748"/>
            </a:avLst>
          </a:prstGeom>
          <a:solidFill>
            <a:srgbClr val="53A89B">
              <a:alpha val="10000"/>
            </a:srgbClr>
          </a:solidFill>
          <a:ln w="9525">
            <a:solidFill>
              <a:srgbClr val="C6E3DF"/>
            </a:solidFill>
            <a:prstDash val="solid"/>
          </a:ln>
        </p:spPr>
      </p:sp>
      <p:sp>
        <p:nvSpPr>
          <p:cNvPr id="14" name="Text 10"/>
          <p:cNvSpPr/>
          <p:nvPr/>
        </p:nvSpPr>
        <p:spPr>
          <a:xfrm>
            <a:off x="11116419" y="5359152"/>
            <a:ext cx="6022881" cy="314325"/>
          </a:xfrm>
          <a:prstGeom prst="rect">
            <a:avLst/>
          </a:prstGeom>
          <a:noFill/>
          <a:ln/>
        </p:spPr>
        <p:txBody>
          <a:bodyPr wrap="square" lIns="25400" tIns="25400" rIns="25400" bIns="25400" rtlCol="0" anchor="t">
            <a:normAutofit/>
          </a:bodyPr>
          <a:lstStyle/>
          <a:p>
            <a:pPr algn="l" indent="0" marL="0">
              <a:buNone/>
            </a:pPr>
            <a:r>
              <a:rPr lang="en-US" sz="1650" b="1" spc="264" kern="0" dirty="0">
                <a:solidFill>
                  <a:srgbClr val="53A89B"/>
                </a:solidFill>
                <a:latin typeface="Courier New" pitchFamily="34" charset="0"/>
                <a:ea typeface="Courier New" pitchFamily="34" charset="-122"/>
                <a:cs typeface="Courier New" pitchFamily="34" charset="-120"/>
              </a:rPr>
              <a:t>FEATURE 02 · THE BIG ONE</a:t>
            </a:r>
            <a:endParaRPr lang="en-US" sz="1650" dirty="0"/>
          </a:p>
        </p:txBody>
      </p:sp>
      <p:sp>
        <p:nvSpPr>
          <p:cNvPr id="15" name="Text 11"/>
          <p:cNvSpPr/>
          <p:nvPr/>
        </p:nvSpPr>
        <p:spPr>
          <a:xfrm>
            <a:off x="11116419" y="5730627"/>
            <a:ext cx="6022881"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spc="-6" kern="0" dirty="0">
                <a:solidFill>
                  <a:srgbClr val="152F37"/>
                </a:solidFill>
                <a:latin typeface="Arial" pitchFamily="34" charset="0"/>
                <a:ea typeface="Arial" pitchFamily="34" charset="-122"/>
                <a:cs typeface="Arial" pitchFamily="34" charset="-120"/>
              </a:rPr>
              <a:t>Taxonomic rollup.</a:t>
            </a:r>
            <a:endParaRPr lang="en-US" sz="2250" dirty="0"/>
          </a:p>
        </p:txBody>
      </p:sp>
      <p:sp>
        <p:nvSpPr>
          <p:cNvPr id="16" name="Text 12"/>
          <p:cNvSpPr/>
          <p:nvPr/>
        </p:nvSpPr>
        <p:spPr>
          <a:xfrm>
            <a:off x="11116419" y="6154489"/>
            <a:ext cx="6022881" cy="695325"/>
          </a:xfrm>
          <a:prstGeom prst="rect">
            <a:avLst/>
          </a:prstGeom>
          <a:noFill/>
          <a:ln/>
        </p:spPr>
        <p:txBody>
          <a:bodyPr wrap="square" lIns="25400" tIns="25400" rIns="25400" bIns="25400" rtlCol="0" anchor="t">
            <a:normAutofit/>
          </a:bodyPr>
          <a:lstStyle/>
          <a:p>
            <a:pPr algn="l" indent="0" marL="0">
              <a:lnSpc>
                <a:spcPct val="150000"/>
              </a:lnSpc>
              <a:buNone/>
            </a:pPr>
            <a:r>
              <a:rPr lang="en-US" sz="1725" spc="-6" kern="0" dirty="0">
                <a:solidFill>
                  <a:srgbClr val="152F37"/>
                </a:solidFill>
                <a:latin typeface="Arial" pitchFamily="34" charset="0"/>
                <a:ea typeface="Arial" pitchFamily="34" charset="-122"/>
                <a:cs typeface="Arial" pitchFamily="34" charset="-120"/>
              </a:rPr>
              <a:t>Selecting </a:t>
            </a:r>
            <a:pPr algn="l" indent="0" marL="0">
              <a:lnSpc>
                <a:spcPct val="150000"/>
              </a:lnSpc>
              <a:buNone/>
            </a:pPr>
            <a:r>
              <a:rPr lang="en-US" sz="1725" i="1" spc="-6" kern="0" dirty="0">
                <a:solidFill>
                  <a:srgbClr val="152F37"/>
                </a:solidFill>
                <a:latin typeface="Arial" pitchFamily="34" charset="0"/>
                <a:ea typeface="Arial" pitchFamily="34" charset="-122"/>
                <a:cs typeface="Arial" pitchFamily="34" charset="-120"/>
              </a:rPr>
              <a:t>Laridae </a:t>
            </a:r>
            <a:pPr algn="l" indent="0" marL="0">
              <a:lnSpc>
                <a:spcPct val="150000"/>
              </a:lnSpc>
              <a:buNone/>
            </a:pPr>
            <a:r>
              <a:rPr lang="en-US" sz="1725" spc="-6" kern="0" dirty="0">
                <a:solidFill>
                  <a:srgbClr val="152F37"/>
                </a:solidFill>
                <a:latin typeface="Arial" pitchFamily="34" charset="0"/>
                <a:ea typeface="Arial" pitchFamily="34" charset="-122"/>
                <a:cs typeface="Arial" pitchFamily="34" charset="-120"/>
              </a:rPr>
              <a:t>at family level returns every genus and species below — herring gulls, kittiwakes, terns.</a:t>
            </a:r>
            <a:endParaRPr lang="en-US" sz="1725" dirty="0"/>
          </a:p>
        </p:txBody>
      </p:sp>
      <p:sp>
        <p:nvSpPr>
          <p:cNvPr id="17" name="Shape 13"/>
          <p:cNvSpPr/>
          <p:nvPr/>
        </p:nvSpPr>
        <p:spPr>
          <a:xfrm>
            <a:off x="10821144" y="7240339"/>
            <a:ext cx="6438007" cy="1922859"/>
          </a:xfrm>
          <a:prstGeom prst="roundRect">
            <a:avLst>
              <a:gd name="adj" fmla="val 7926"/>
            </a:avLst>
          </a:prstGeom>
          <a:solidFill>
            <a:srgbClr val="FFFDF7"/>
          </a:solidFill>
          <a:ln w="9525">
            <a:solidFill>
              <a:srgbClr val="D9D5CB"/>
            </a:solidFill>
            <a:prstDash val="solid"/>
          </a:ln>
        </p:spPr>
      </p:sp>
      <p:sp>
        <p:nvSpPr>
          <p:cNvPr id="18" name="Text 14"/>
          <p:cNvSpPr/>
          <p:nvPr/>
        </p:nvSpPr>
        <p:spPr>
          <a:xfrm>
            <a:off x="11116419" y="7497514"/>
            <a:ext cx="6022881" cy="314325"/>
          </a:xfrm>
          <a:prstGeom prst="rect">
            <a:avLst/>
          </a:prstGeom>
          <a:noFill/>
          <a:ln/>
        </p:spPr>
        <p:txBody>
          <a:bodyPr wrap="square" lIns="25400" tIns="25400" rIns="25400" bIns="25400" rtlCol="0" anchor="t">
            <a:normAutofit/>
          </a:bodyPr>
          <a:lstStyle/>
          <a:p>
            <a:pPr algn="l" indent="0" marL="0">
              <a:buNone/>
            </a:pPr>
            <a:r>
              <a:rPr lang="en-US" sz="1650" b="1" spc="264" kern="0" dirty="0">
                <a:solidFill>
                  <a:srgbClr val="53A89B"/>
                </a:solidFill>
                <a:latin typeface="Courier New" pitchFamily="34" charset="0"/>
                <a:ea typeface="Courier New" pitchFamily="34" charset="-122"/>
                <a:cs typeface="Courier New" pitchFamily="34" charset="-120"/>
              </a:rPr>
              <a:t>FEATURE 03</a:t>
            </a:r>
            <a:endParaRPr lang="en-US" sz="1650" dirty="0"/>
          </a:p>
        </p:txBody>
      </p:sp>
      <p:sp>
        <p:nvSpPr>
          <p:cNvPr id="19" name="Text 15"/>
          <p:cNvSpPr/>
          <p:nvPr/>
        </p:nvSpPr>
        <p:spPr>
          <a:xfrm>
            <a:off x="11116419" y="7868989"/>
            <a:ext cx="6022881"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spc="-6" kern="0" dirty="0">
                <a:solidFill>
                  <a:srgbClr val="152F37"/>
                </a:solidFill>
                <a:latin typeface="Arial" pitchFamily="34" charset="0"/>
                <a:ea typeface="Arial" pitchFamily="34" charset="-122"/>
                <a:cs typeface="Arial" pitchFamily="34" charset="-120"/>
              </a:rPr>
              <a:t>New top-bar filters.</a:t>
            </a:r>
            <a:endParaRPr lang="en-US" sz="2250" dirty="0"/>
          </a:p>
        </p:txBody>
      </p:sp>
      <p:sp>
        <p:nvSpPr>
          <p:cNvPr id="20" name="Text 16"/>
          <p:cNvSpPr/>
          <p:nvPr/>
        </p:nvSpPr>
        <p:spPr>
          <a:xfrm>
            <a:off x="11116419" y="8292852"/>
            <a:ext cx="6022881"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b="1" spc="-6" kern="0" dirty="0">
                <a:solidFill>
                  <a:srgbClr val="152F37"/>
                </a:solidFill>
                <a:latin typeface="Arial" pitchFamily="34" charset="0"/>
                <a:ea typeface="Arial" pitchFamily="34" charset="-122"/>
                <a:cs typeface="Arial" pitchFamily="34" charset="-120"/>
              </a:rPr>
              <a:t>OBIS Nodes</a:t>
            </a:r>
            <a:pPr algn="l" indent="0" marL="0">
              <a:lnSpc>
                <a:spcPct val="140000"/>
              </a:lnSpc>
              <a:buNone/>
            </a:pPr>
            <a:r>
              <a:rPr lang="en-US" sz="1725" spc="-6" kern="0" dirty="0">
                <a:solidFill>
                  <a:srgbClr val="152F37"/>
                </a:solidFill>
                <a:latin typeface="Arial" pitchFamily="34" charset="0"/>
                <a:ea typeface="Arial" pitchFamily="34" charset="-122"/>
                <a:cs typeface="Arial" pitchFamily="34" charset="-120"/>
              </a:rPr>
              <a:t>, </a:t>
            </a:r>
            <a:pPr algn="l" indent="0" marL="0">
              <a:lnSpc>
                <a:spcPct val="140000"/>
              </a:lnSpc>
              <a:buNone/>
            </a:pPr>
            <a:r>
              <a:rPr lang="en-US" sz="1725" b="1" spc="-6" kern="0" dirty="0">
                <a:solidFill>
                  <a:srgbClr val="152F37"/>
                </a:solidFill>
                <a:latin typeface="Arial" pitchFamily="34" charset="0"/>
                <a:ea typeface="Arial" pitchFamily="34" charset="-122"/>
                <a:cs typeface="Arial" pitchFamily="34" charset="-120"/>
              </a:rPr>
              <a:t>OBIS </a:t>
            </a:r>
            <a:pPr algn="l" indent="0" marL="0">
              <a:lnSpc>
                <a:spcPct val="140000"/>
              </a:lnSpc>
              <a:buNone/>
            </a:pPr>
            <a:r>
              <a:rPr lang="en-US" sz="1725" spc="-6" kern="0" dirty="0">
                <a:solidFill>
                  <a:srgbClr val="152F37"/>
                </a:solidFill>
                <a:latin typeface="Arial" pitchFamily="34" charset="0"/>
                <a:ea typeface="Arial" pitchFamily="34" charset="-122"/>
                <a:cs typeface="Arial" pitchFamily="34" charset="-120"/>
              </a:rPr>
              <a:t>source toggle, </a:t>
            </a:r>
            <a:pPr algn="l" indent="0" marL="0">
              <a:lnSpc>
                <a:spcPct val="140000"/>
              </a:lnSpc>
              <a:buNone/>
            </a:pPr>
            <a:r>
              <a:rPr lang="en-US" sz="1725" b="1" spc="-6" kern="0" dirty="0">
                <a:solidFill>
                  <a:srgbClr val="152F37"/>
                </a:solidFill>
                <a:latin typeface="Arial" pitchFamily="34" charset="0"/>
                <a:ea typeface="Arial" pitchFamily="34" charset="-122"/>
                <a:cs typeface="Arial" pitchFamily="34" charset="-120"/>
              </a:rPr>
              <a:t>Scientific Name </a:t>
            </a:r>
            <a:pPr algn="l" indent="0" marL="0">
              <a:lnSpc>
                <a:spcPct val="140000"/>
              </a:lnSpc>
              <a:buNone/>
            </a:pPr>
            <a:r>
              <a:rPr lang="en-US" sz="1725" spc="-6" kern="0" dirty="0">
                <a:solidFill>
                  <a:srgbClr val="152F37"/>
                </a:solidFill>
                <a:latin typeface="Arial" pitchFamily="34" charset="0"/>
                <a:ea typeface="Arial" pitchFamily="34" charset="-122"/>
                <a:cs typeface="Arial" pitchFamily="34" charset="-120"/>
              </a:rPr>
              <a:t>— sit alongside the existing CDE pills.</a:t>
            </a:r>
            <a:endParaRPr lang="en-US" sz="1725" dirty="0"/>
          </a:p>
        </p:txBody>
      </p:sp>
      <p:sp>
        <p:nvSpPr>
          <p:cNvPr id="21" name="Text 17"/>
          <p:cNvSpPr/>
          <p:nvPr/>
        </p:nvSpPr>
        <p:spPr>
          <a:xfrm>
            <a:off x="1028700" y="9648825"/>
            <a:ext cx="4007538"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HOW IT WORKS · 12 OF 16</a:t>
            </a:r>
            <a:endParaRPr lang="en-US" sz="1800" dirty="0"/>
          </a:p>
        </p:txBody>
      </p:sp>
      <p:sp>
        <p:nvSpPr>
          <p:cNvPr id="22" name="Text 18"/>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F37"/>
        </a:solidFill>
      </p:bgPr>
    </p:bg>
    <p:spTree>
      <p:nvGrpSpPr>
        <p:cNvPr id="1" name=""/>
        <p:cNvGrpSpPr/>
        <p:nvPr/>
      </p:nvGrpSpPr>
      <p:grpSpPr>
        <a:xfrm>
          <a:off x="0" y="0"/>
          <a:ext cx="0" cy="0"/>
          <a:chOff x="0" y="0"/>
          <a:chExt cx="0" cy="0"/>
        </a:xfrm>
      </p:grpSpPr>
      <p:sp>
        <p:nvSpPr>
          <p:cNvPr id="2" name="Text 0"/>
          <p:cNvSpPr/>
          <p:nvPr/>
        </p:nvSpPr>
        <p:spPr>
          <a:xfrm>
            <a:off x="1028700" y="533400"/>
            <a:ext cx="2478286"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FFFFFF">
                    <a:alpha val="55000"/>
                  </a:srgbClr>
                </a:solidFill>
                <a:latin typeface="Courier New" pitchFamily="34" charset="0"/>
                <a:ea typeface="Courier New" pitchFamily="34" charset="-122"/>
                <a:cs typeface="Courier New" pitchFamily="34" charset="-120"/>
              </a:rPr>
              <a:t>CIOOS </a:t>
            </a:r>
            <a:pPr algn="l" indent="0" marL="0">
              <a:buNone/>
            </a:pPr>
            <a:r>
              <a:rPr lang="en-US" sz="1800" spc="396" kern="0" dirty="0">
                <a:solidFill>
                  <a:srgbClr val="C6E3DF"/>
                </a:solidFill>
                <a:latin typeface="Courier New" pitchFamily="34" charset="0"/>
                <a:ea typeface="Courier New" pitchFamily="34" charset="-122"/>
                <a:cs typeface="Courier New" pitchFamily="34" charset="-120"/>
              </a:rPr>
              <a:t>/ </a:t>
            </a:r>
            <a:pPr algn="l" indent="0" marL="0">
              <a:buNone/>
            </a:pPr>
            <a:r>
              <a:rPr lang="en-US" sz="1800" spc="396" kern="0" dirty="0">
                <a:solidFill>
                  <a:srgbClr val="FFFFFF">
                    <a:alpha val="55000"/>
                  </a:srgbClr>
                </a:solidFill>
                <a:latin typeface="Courier New" pitchFamily="34" charset="0"/>
                <a:ea typeface="Courier New" pitchFamily="34" charset="-122"/>
                <a:cs typeface="Courier New" pitchFamily="34" charset="-120"/>
              </a:rPr>
              <a:t>OBIS</a:t>
            </a:r>
            <a:endParaRPr lang="en-US" sz="1800" dirty="0"/>
          </a:p>
        </p:txBody>
      </p:sp>
      <p:sp>
        <p:nvSpPr>
          <p:cNvPr id="3" name="Text 1"/>
          <p:cNvSpPr/>
          <p:nvPr/>
        </p:nvSpPr>
        <p:spPr>
          <a:xfrm>
            <a:off x="14912280" y="762000"/>
            <a:ext cx="2423220" cy="2133600"/>
          </a:xfrm>
          <a:prstGeom prst="rect">
            <a:avLst/>
          </a:prstGeom>
          <a:noFill/>
          <a:ln/>
        </p:spPr>
        <p:txBody>
          <a:bodyPr wrap="square" lIns="25400" tIns="25400" rIns="25400" bIns="25400" rtlCol="0" anchor="t">
            <a:normAutofit/>
          </a:bodyPr>
          <a:lstStyle/>
          <a:p>
            <a:pPr algn="l" indent="0" marL="0">
              <a:lnSpc>
                <a:spcPct val="100000"/>
              </a:lnSpc>
              <a:buNone/>
            </a:pPr>
            <a:r>
              <a:rPr lang="en-US" sz="16500" spc="-660" kern="0" dirty="0">
                <a:solidFill>
                  <a:srgbClr val="FFFFFF">
                    <a:alpha val="6000"/>
                  </a:srgbClr>
                </a:solidFill>
                <a:latin typeface="Courier New" pitchFamily="34" charset="0"/>
                <a:ea typeface="Courier New" pitchFamily="34" charset="-122"/>
                <a:cs typeface="Courier New" pitchFamily="34" charset="-120"/>
              </a:rPr>
              <a:t>03</a:t>
            </a:r>
            <a:endParaRPr lang="en-US" sz="16500" dirty="0"/>
          </a:p>
        </p:txBody>
      </p:sp>
      <p:sp>
        <p:nvSpPr>
          <p:cNvPr id="4" name="Text 2"/>
          <p:cNvSpPr/>
          <p:nvPr/>
        </p:nvSpPr>
        <p:spPr>
          <a:xfrm>
            <a:off x="1028700" y="6121003"/>
            <a:ext cx="16717518" cy="333375"/>
          </a:xfrm>
          <a:prstGeom prst="rect">
            <a:avLst/>
          </a:prstGeom>
          <a:noFill/>
          <a:ln/>
        </p:spPr>
        <p:txBody>
          <a:bodyPr wrap="square" lIns="25400" tIns="25400" rIns="25400" bIns="25400" rtlCol="0" anchor="t">
            <a:normAutofit/>
          </a:bodyPr>
          <a:lstStyle/>
          <a:p>
            <a:pPr algn="l" indent="0" marL="0">
              <a:buNone/>
            </a:pPr>
            <a:r>
              <a:rPr lang="en-US" sz="1800" spc="504" kern="0" dirty="0">
                <a:solidFill>
                  <a:srgbClr val="C6E3DF"/>
                </a:solidFill>
                <a:latin typeface="Courier New" pitchFamily="34" charset="0"/>
                <a:ea typeface="Courier New" pitchFamily="34" charset="-122"/>
                <a:cs typeface="Courier New" pitchFamily="34" charset="-120"/>
              </a:rPr>
              <a:t>SECTION THREE</a:t>
            </a:r>
            <a:endParaRPr lang="en-US" sz="1800" dirty="0"/>
          </a:p>
        </p:txBody>
      </p:sp>
      <p:sp>
        <p:nvSpPr>
          <p:cNvPr id="5" name="Text 3"/>
          <p:cNvSpPr/>
          <p:nvPr/>
        </p:nvSpPr>
        <p:spPr>
          <a:xfrm>
            <a:off x="1028700" y="6606778"/>
            <a:ext cx="14716125"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b="1" spc="-270" kern="0" dirty="0">
                <a:solidFill>
                  <a:srgbClr val="FFFFFF"/>
                </a:solidFill>
                <a:latin typeface="Arial" pitchFamily="34" charset="0"/>
                <a:ea typeface="Arial" pitchFamily="34" charset="-122"/>
                <a:cs typeface="Arial" pitchFamily="34" charset="-120"/>
              </a:rPr>
              <a:t>Status &amp; next.</a:t>
            </a:r>
            <a:endParaRPr lang="en-US" sz="9000" dirty="0"/>
          </a:p>
        </p:txBody>
      </p:sp>
      <p:sp>
        <p:nvSpPr>
          <p:cNvPr id="6" name="Text 4"/>
          <p:cNvSpPr/>
          <p:nvPr/>
        </p:nvSpPr>
        <p:spPr>
          <a:xfrm>
            <a:off x="1028700" y="8016478"/>
            <a:ext cx="12753975" cy="860822"/>
          </a:xfrm>
          <a:prstGeom prst="rect">
            <a:avLst/>
          </a:prstGeom>
          <a:noFill/>
          <a:ln/>
        </p:spPr>
        <p:txBody>
          <a:bodyPr wrap="square" lIns="25400" tIns="25400" rIns="25400" bIns="25400" rtlCol="0" anchor="t">
            <a:normAutofit/>
          </a:bodyPr>
          <a:lstStyle/>
          <a:p>
            <a:pPr algn="l" indent="0" marL="0">
              <a:lnSpc>
                <a:spcPct val="135000"/>
              </a:lnSpc>
              <a:buNone/>
            </a:pPr>
            <a:r>
              <a:rPr lang="en-US" sz="2400" spc="-6" kern="0" dirty="0">
                <a:solidFill>
                  <a:srgbClr val="FFFFFF">
                    <a:alpha val="70000"/>
                  </a:srgbClr>
                </a:solidFill>
                <a:latin typeface="Arial" pitchFamily="34" charset="0"/>
                <a:ea typeface="Arial" pitchFamily="34" charset="-122"/>
                <a:cs typeface="Arial" pitchFamily="34" charset="-120"/>
              </a:rPr>
              <a:t>Six gotchas worth knowing, where this is today, and what comes next — then the notebooks.</a:t>
            </a:r>
            <a:endParaRPr lang="en-US" sz="2400" dirty="0"/>
          </a:p>
        </p:txBody>
      </p:sp>
      <p:sp>
        <p:nvSpPr>
          <p:cNvPr id="7" name="Shape 5"/>
          <p:cNvSpPr/>
          <p:nvPr/>
        </p:nvSpPr>
        <p:spPr>
          <a:xfrm>
            <a:off x="1028700" y="9677400"/>
            <a:ext cx="1905000" cy="38100"/>
          </a:xfrm>
          <a:prstGeom prst="rect">
            <a:avLst/>
          </a:prstGeom>
          <a:solidFill>
            <a:srgbClr val="C6E3DF"/>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939468" y="481012"/>
            <a:ext cx="396032"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14</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HARD-WON</a:t>
            </a:r>
            <a:endParaRPr lang="en-US" sz="1800" dirty="0"/>
          </a:p>
        </p:txBody>
      </p:sp>
      <p:sp>
        <p:nvSpPr>
          <p:cNvPr id="6" name="Text 3"/>
          <p:cNvSpPr/>
          <p:nvPr/>
        </p:nvSpPr>
        <p:spPr>
          <a:xfrm>
            <a:off x="1028700" y="1419225"/>
            <a:ext cx="14716125"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Lessons &amp; gotchas.</a:t>
            </a:r>
            <a:endParaRPr lang="en-US" sz="4500" dirty="0"/>
          </a:p>
        </p:txBody>
      </p:sp>
      <p:sp>
        <p:nvSpPr>
          <p:cNvPr id="7" name="Shape 4"/>
          <p:cNvSpPr/>
          <p:nvPr/>
        </p:nvSpPr>
        <p:spPr>
          <a:xfrm>
            <a:off x="1028700" y="2623096"/>
            <a:ext cx="7848600" cy="9525"/>
          </a:xfrm>
          <a:prstGeom prst="rect">
            <a:avLst/>
          </a:prstGeom>
          <a:solidFill>
            <a:srgbClr val="D9D5CB"/>
          </a:solidFill>
          <a:ln/>
        </p:spPr>
      </p:sp>
      <p:sp>
        <p:nvSpPr>
          <p:cNvPr id="8" name="Text 5"/>
          <p:cNvSpPr/>
          <p:nvPr/>
        </p:nvSpPr>
        <p:spPr>
          <a:xfrm>
            <a:off x="1028700" y="2861221"/>
            <a:ext cx="647700" cy="687586"/>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3A89B"/>
                </a:solidFill>
                <a:latin typeface="Courier New" pitchFamily="34" charset="0"/>
                <a:ea typeface="Courier New" pitchFamily="34" charset="-122"/>
                <a:cs typeface="Courier New" pitchFamily="34" charset="-120"/>
              </a:rPr>
              <a:t>01</a:t>
            </a:r>
            <a:endParaRPr lang="en-US" sz="1800" dirty="0"/>
          </a:p>
        </p:txBody>
      </p:sp>
      <p:sp>
        <p:nvSpPr>
          <p:cNvPr id="9" name="Text 6"/>
          <p:cNvSpPr/>
          <p:nvPr/>
        </p:nvSpPr>
        <p:spPr>
          <a:xfrm>
            <a:off x="1809750" y="2842171"/>
            <a:ext cx="7044119"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REST pagination cursor is </a:t>
            </a:r>
            <a:pPr algn="l" indent="0" marL="0">
              <a:lnSpc>
                <a:spcPct val="135000"/>
              </a:lnSpc>
              <a:buNone/>
            </a:pPr>
            <a:r>
              <a:rPr lang="en-US" sz="1800" spc="-6" kern="0" dirty="0">
                <a:solidFill>
                  <a:srgbClr val="152F37"/>
                </a:solidFill>
                <a:highlight>
                  <a:srgbClr val="53A89B"/>
                </a:highlight>
                <a:latin typeface="Courier New" pitchFamily="34" charset="0"/>
                <a:ea typeface="Courier New" pitchFamily="34" charset="-122"/>
                <a:cs typeface="Courier New" pitchFamily="34" charset="-120"/>
              </a:rPr>
              <a:t>after=</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 not </a:t>
            </a:r>
            <a:pPr algn="l" indent="0" marL="0">
              <a:lnSpc>
                <a:spcPct val="135000"/>
              </a:lnSpc>
              <a:buNone/>
            </a:pPr>
            <a:r>
              <a:rPr lang="en-US" sz="1800" spc="-6" kern="0" dirty="0">
                <a:solidFill>
                  <a:srgbClr val="152F37"/>
                </a:solidFill>
                <a:highlight>
                  <a:srgbClr val="53A89B"/>
                </a:highlight>
                <a:latin typeface="Courier New" pitchFamily="34" charset="0"/>
                <a:ea typeface="Courier New" pitchFamily="34" charset="-122"/>
                <a:cs typeface="Courier New" pitchFamily="34" charset="-120"/>
              </a:rPr>
              <a:t>start=</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a:t>
            </a:r>
            <a:endParaRPr lang="en-US" sz="1950" dirty="0"/>
          </a:p>
        </p:txBody>
      </p:sp>
      <p:sp>
        <p:nvSpPr>
          <p:cNvPr id="10" name="Shape 7"/>
          <p:cNvSpPr/>
          <p:nvPr/>
        </p:nvSpPr>
        <p:spPr>
          <a:xfrm>
            <a:off x="9410700" y="2623096"/>
            <a:ext cx="7848600" cy="9525"/>
          </a:xfrm>
          <a:prstGeom prst="rect">
            <a:avLst/>
          </a:prstGeom>
          <a:solidFill>
            <a:srgbClr val="D9D5CB"/>
          </a:solidFill>
          <a:ln/>
        </p:spPr>
      </p:sp>
      <p:sp>
        <p:nvSpPr>
          <p:cNvPr id="11" name="Text 8"/>
          <p:cNvSpPr/>
          <p:nvPr/>
        </p:nvSpPr>
        <p:spPr>
          <a:xfrm>
            <a:off x="9410700" y="2861221"/>
            <a:ext cx="647700" cy="687586"/>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3A89B"/>
                </a:solidFill>
                <a:latin typeface="Courier New" pitchFamily="34" charset="0"/>
                <a:ea typeface="Courier New" pitchFamily="34" charset="-122"/>
                <a:cs typeface="Courier New" pitchFamily="34" charset="-120"/>
              </a:rPr>
              <a:t>02</a:t>
            </a:r>
            <a:endParaRPr lang="en-US" sz="1800" dirty="0"/>
          </a:p>
        </p:txBody>
      </p:sp>
      <p:sp>
        <p:nvSpPr>
          <p:cNvPr id="12" name="Text 9"/>
          <p:cNvSpPr/>
          <p:nvPr/>
        </p:nvSpPr>
        <p:spPr>
          <a:xfrm>
            <a:off x="10191750" y="2842171"/>
            <a:ext cx="7044119"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Parquet schema nests under </a:t>
            </a:r>
            <a:pPr algn="l" indent="0" marL="0">
              <a:lnSpc>
                <a:spcPct val="135000"/>
              </a:lnSpc>
              <a:buNone/>
            </a:pPr>
            <a:r>
              <a:rPr lang="en-US" sz="1800" spc="-6" kern="0" dirty="0">
                <a:solidFill>
                  <a:srgbClr val="152F37"/>
                </a:solidFill>
                <a:highlight>
                  <a:srgbClr val="53A89B"/>
                </a:highlight>
                <a:latin typeface="Courier New" pitchFamily="34" charset="0"/>
                <a:ea typeface="Courier New" pitchFamily="34" charset="-122"/>
                <a:cs typeface="Courier New" pitchFamily="34" charset="-120"/>
              </a:rPr>
              <a:t>interpreted.*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 always unwrap.</a:t>
            </a:r>
            <a:endParaRPr lang="en-US" sz="1950" dirty="0"/>
          </a:p>
        </p:txBody>
      </p:sp>
      <p:sp>
        <p:nvSpPr>
          <p:cNvPr id="13" name="Shape 10"/>
          <p:cNvSpPr/>
          <p:nvPr/>
        </p:nvSpPr>
        <p:spPr>
          <a:xfrm>
            <a:off x="1028700" y="3929807"/>
            <a:ext cx="7848600" cy="9525"/>
          </a:xfrm>
          <a:prstGeom prst="rect">
            <a:avLst/>
          </a:prstGeom>
          <a:solidFill>
            <a:srgbClr val="D9D5CB"/>
          </a:solidFill>
          <a:ln/>
        </p:spPr>
      </p:sp>
      <p:sp>
        <p:nvSpPr>
          <p:cNvPr id="14" name="Text 11"/>
          <p:cNvSpPr/>
          <p:nvPr/>
        </p:nvSpPr>
        <p:spPr>
          <a:xfrm>
            <a:off x="1028700" y="4167932"/>
            <a:ext cx="647700" cy="687586"/>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3A89B"/>
                </a:solidFill>
                <a:latin typeface="Courier New" pitchFamily="34" charset="0"/>
                <a:ea typeface="Courier New" pitchFamily="34" charset="-122"/>
                <a:cs typeface="Courier New" pitchFamily="34" charset="-120"/>
              </a:rPr>
              <a:t>03</a:t>
            </a:r>
            <a:endParaRPr lang="en-US" sz="1800" dirty="0"/>
          </a:p>
        </p:txBody>
      </p:sp>
      <p:sp>
        <p:nvSpPr>
          <p:cNvPr id="15" name="Text 12"/>
          <p:cNvSpPr/>
          <p:nvPr/>
        </p:nvSpPr>
        <p:spPr>
          <a:xfrm>
            <a:off x="1809750" y="4148882"/>
            <a:ext cx="7044119"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EOV gating matters — 5% for cover &amp; zooplankton; lone pH ≠ inorganic carbon.</a:t>
            </a:r>
            <a:endParaRPr lang="en-US" sz="1950" dirty="0"/>
          </a:p>
        </p:txBody>
      </p:sp>
      <p:sp>
        <p:nvSpPr>
          <p:cNvPr id="16" name="Shape 13"/>
          <p:cNvSpPr/>
          <p:nvPr/>
        </p:nvSpPr>
        <p:spPr>
          <a:xfrm>
            <a:off x="9410700" y="3929807"/>
            <a:ext cx="7848600" cy="9525"/>
          </a:xfrm>
          <a:prstGeom prst="rect">
            <a:avLst/>
          </a:prstGeom>
          <a:solidFill>
            <a:srgbClr val="D9D5CB"/>
          </a:solidFill>
          <a:ln/>
        </p:spPr>
      </p:sp>
      <p:sp>
        <p:nvSpPr>
          <p:cNvPr id="17" name="Text 14"/>
          <p:cNvSpPr/>
          <p:nvPr/>
        </p:nvSpPr>
        <p:spPr>
          <a:xfrm>
            <a:off x="9410700" y="4167932"/>
            <a:ext cx="647700" cy="687586"/>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3A89B"/>
                </a:solidFill>
                <a:latin typeface="Courier New" pitchFamily="34" charset="0"/>
                <a:ea typeface="Courier New" pitchFamily="34" charset="-122"/>
                <a:cs typeface="Courier New" pitchFamily="34" charset="-120"/>
              </a:rPr>
              <a:t>04</a:t>
            </a:r>
            <a:endParaRPr lang="en-US" sz="1800" dirty="0"/>
          </a:p>
        </p:txBody>
      </p:sp>
      <p:sp>
        <p:nvSpPr>
          <p:cNvPr id="18" name="Text 15"/>
          <p:cNvSpPr/>
          <p:nvPr/>
        </p:nvSpPr>
        <p:spPr>
          <a:xfrm>
            <a:off x="10191750" y="4148882"/>
            <a:ext cx="7044119"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Private / embargoed datasets are </a:t>
            </a:r>
            <a:pPr algn="l" indent="0" marL="0">
              <a:lnSpc>
                <a:spcPct val="135000"/>
              </a:lnSpc>
              <a:buNone/>
            </a:pPr>
            <a:r>
              <a:rPr lang="en-US" sz="1950" b="1" spc="-6" kern="0" dirty="0">
                <a:solidFill>
                  <a:srgbClr val="152F37"/>
                </a:solidFill>
                <a:latin typeface="Arial" pitchFamily="34" charset="0"/>
                <a:ea typeface="Arial" pitchFamily="34" charset="-122"/>
                <a:cs typeface="Arial" pitchFamily="34" charset="-120"/>
              </a:rPr>
              <a:t>API-only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 keep the REST fallback live.</a:t>
            </a:r>
            <a:endParaRPr lang="en-US" sz="1950" dirty="0"/>
          </a:p>
        </p:txBody>
      </p:sp>
      <p:sp>
        <p:nvSpPr>
          <p:cNvPr id="19" name="Shape 16"/>
          <p:cNvSpPr/>
          <p:nvPr/>
        </p:nvSpPr>
        <p:spPr>
          <a:xfrm>
            <a:off x="1028700" y="5236518"/>
            <a:ext cx="7848600" cy="9525"/>
          </a:xfrm>
          <a:prstGeom prst="rect">
            <a:avLst/>
          </a:prstGeom>
          <a:solidFill>
            <a:srgbClr val="D9D5CB"/>
          </a:solidFill>
          <a:ln/>
        </p:spPr>
      </p:sp>
      <p:sp>
        <p:nvSpPr>
          <p:cNvPr id="20" name="Text 17"/>
          <p:cNvSpPr/>
          <p:nvPr/>
        </p:nvSpPr>
        <p:spPr>
          <a:xfrm>
            <a:off x="1028700" y="5474643"/>
            <a:ext cx="647700" cy="1021854"/>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3A89B"/>
                </a:solidFill>
                <a:latin typeface="Courier New" pitchFamily="34" charset="0"/>
                <a:ea typeface="Courier New" pitchFamily="34" charset="-122"/>
                <a:cs typeface="Courier New" pitchFamily="34" charset="-120"/>
              </a:rPr>
              <a:t>05</a:t>
            </a:r>
            <a:endParaRPr lang="en-US" sz="1800" dirty="0"/>
          </a:p>
        </p:txBody>
      </p:sp>
      <p:sp>
        <p:nvSpPr>
          <p:cNvPr id="21" name="Text 18"/>
          <p:cNvSpPr/>
          <p:nvPr/>
        </p:nvSpPr>
        <p:spPr>
          <a:xfrm>
            <a:off x="1809750" y="5455593"/>
            <a:ext cx="7044119" cy="1040904"/>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Parquet exports lag the live API by </a:t>
            </a:r>
            <a:pPr algn="l" indent="0" marL="0">
              <a:lnSpc>
                <a:spcPct val="135000"/>
              </a:lnSpc>
              <a:buNone/>
            </a:pPr>
            <a:r>
              <a:rPr lang="en-US" sz="1950" b="1" spc="-6" kern="0" dirty="0">
                <a:solidFill>
                  <a:srgbClr val="152F37"/>
                </a:solidFill>
                <a:latin typeface="Arial" pitchFamily="34" charset="0"/>
                <a:ea typeface="Arial" pitchFamily="34" charset="-122"/>
                <a:cs typeface="Arial" pitchFamily="34" charset="-120"/>
              </a:rPr>
              <a:t>hours to days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 don't use for time-critical paths.</a:t>
            </a:r>
            <a:endParaRPr lang="en-US" sz="1950" dirty="0"/>
          </a:p>
        </p:txBody>
      </p:sp>
      <p:sp>
        <p:nvSpPr>
          <p:cNvPr id="22" name="Shape 19"/>
          <p:cNvSpPr/>
          <p:nvPr/>
        </p:nvSpPr>
        <p:spPr>
          <a:xfrm>
            <a:off x="9410700" y="5236518"/>
            <a:ext cx="7848600" cy="9525"/>
          </a:xfrm>
          <a:prstGeom prst="rect">
            <a:avLst/>
          </a:prstGeom>
          <a:solidFill>
            <a:srgbClr val="D9D5CB"/>
          </a:solidFill>
          <a:ln/>
        </p:spPr>
      </p:sp>
      <p:sp>
        <p:nvSpPr>
          <p:cNvPr id="23" name="Text 20"/>
          <p:cNvSpPr/>
          <p:nvPr/>
        </p:nvSpPr>
        <p:spPr>
          <a:xfrm>
            <a:off x="9410700" y="5474643"/>
            <a:ext cx="647700" cy="1021854"/>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3A89B"/>
                </a:solidFill>
                <a:latin typeface="Courier New" pitchFamily="34" charset="0"/>
                <a:ea typeface="Courier New" pitchFamily="34" charset="-122"/>
                <a:cs typeface="Courier New" pitchFamily="34" charset="-120"/>
              </a:rPr>
              <a:t>06</a:t>
            </a:r>
            <a:endParaRPr lang="en-US" sz="1800" dirty="0"/>
          </a:p>
        </p:txBody>
      </p:sp>
      <p:sp>
        <p:nvSpPr>
          <p:cNvPr id="24" name="Text 21"/>
          <p:cNvSpPr/>
          <p:nvPr/>
        </p:nvSpPr>
        <p:spPr>
          <a:xfrm>
            <a:off x="10191750" y="5455593"/>
            <a:ext cx="7044119" cy="1040904"/>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Platform inference is text-matched on </a:t>
            </a:r>
            <a:pPr algn="l" indent="0" marL="0">
              <a:lnSpc>
                <a:spcPct val="135000"/>
              </a:lnSpc>
              <a:buNone/>
            </a:pPr>
            <a:r>
              <a:rPr lang="en-US" sz="1800" spc="-6" kern="0" dirty="0">
                <a:solidFill>
                  <a:srgbClr val="152F37"/>
                </a:solidFill>
                <a:highlight>
                  <a:srgbClr val="53A89B"/>
                </a:highlight>
                <a:latin typeface="Courier New" pitchFamily="34" charset="0"/>
                <a:ea typeface="Courier New" pitchFamily="34" charset="-122"/>
                <a:cs typeface="Courier New" pitchFamily="34" charset="-120"/>
              </a:rPr>
              <a:t>samplingProtocol </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 emit conservatively or </a:t>
            </a:r>
            <a:pPr algn="l" indent="0" marL="0">
              <a:lnSpc>
                <a:spcPct val="135000"/>
              </a:lnSpc>
              <a:buNone/>
            </a:pPr>
            <a:r>
              <a:rPr lang="en-US" sz="1800" spc="-6" kern="0" dirty="0">
                <a:solidFill>
                  <a:srgbClr val="152F37"/>
                </a:solidFill>
                <a:highlight>
                  <a:srgbClr val="53A89B"/>
                </a:highlight>
                <a:latin typeface="Courier New" pitchFamily="34" charset="0"/>
                <a:ea typeface="Courier New" pitchFamily="34" charset="-122"/>
                <a:cs typeface="Courier New" pitchFamily="34" charset="-120"/>
              </a:rPr>
              <a:t>noPlatform</a:t>
            </a:r>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a:t>
            </a:r>
            <a:endParaRPr lang="en-US" sz="1950" dirty="0"/>
          </a:p>
        </p:txBody>
      </p:sp>
      <p:sp>
        <p:nvSpPr>
          <p:cNvPr id="25" name="Text 22"/>
          <p:cNvSpPr/>
          <p:nvPr/>
        </p:nvSpPr>
        <p:spPr>
          <a:xfrm>
            <a:off x="1028700" y="9648825"/>
            <a:ext cx="418183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STATUS &amp; NEXT · 14 OF 16</a:t>
            </a:r>
            <a:endParaRPr lang="en-US" sz="1800" dirty="0"/>
          </a:p>
        </p:txBody>
      </p:sp>
      <p:sp>
        <p:nvSpPr>
          <p:cNvPr id="26" name="Text 23"/>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0E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1028700" y="419100"/>
            <a:ext cx="342900" cy="342900"/>
          </a:xfrm>
          <a:prstGeom prst="rect">
            <a:avLst/>
          </a:prstGeom>
        </p:spPr>
      </p:pic>
      <p:sp>
        <p:nvSpPr>
          <p:cNvPr id="3" name="Text 0"/>
          <p:cNvSpPr/>
          <p:nvPr/>
        </p:nvSpPr>
        <p:spPr>
          <a:xfrm>
            <a:off x="1504950" y="452438"/>
            <a:ext cx="1047750" cy="314325"/>
          </a:xfrm>
          <a:prstGeom prst="rect">
            <a:avLst/>
          </a:prstGeom>
          <a:noFill/>
          <a:ln/>
        </p:spPr>
        <p:txBody>
          <a:bodyPr wrap="square" lIns="0" tIns="0" rIns="0" bIns="0" rtlCol="0" anchor="t">
            <a:normAutofit/>
          </a:bodyPr>
          <a:lstStyle/>
          <a:p>
            <a:pPr algn="l" indent="0" marL="0">
              <a:buNone/>
            </a:pPr>
            <a:r>
              <a:rPr lang="en-US" sz="1800" b="1" spc="324" kern="0" dirty="0">
                <a:solidFill>
                  <a:srgbClr val="152F37"/>
                </a:solidFill>
                <a:latin typeface="Arial" pitchFamily="34" charset="0"/>
                <a:ea typeface="Arial" pitchFamily="34" charset="-122"/>
                <a:cs typeface="Arial" pitchFamily="34" charset="-120"/>
              </a:rPr>
              <a:t>CIOOS</a:t>
            </a:r>
            <a:endParaRPr lang="en-US" sz="1800" dirty="0"/>
          </a:p>
        </p:txBody>
      </p:sp>
      <p:sp>
        <p:nvSpPr>
          <p:cNvPr id="4" name="Text 1"/>
          <p:cNvSpPr/>
          <p:nvPr/>
        </p:nvSpPr>
        <p:spPr>
          <a:xfrm>
            <a:off x="16961197" y="481012"/>
            <a:ext cx="374303"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B6B6E"/>
                </a:solidFill>
                <a:latin typeface="Arial" pitchFamily="34" charset="0"/>
                <a:ea typeface="Arial" pitchFamily="34" charset="-122"/>
                <a:cs typeface="Arial" pitchFamily="34" charset="-120"/>
              </a:rPr>
              <a:t>15</a:t>
            </a:r>
            <a:endParaRPr lang="en-US" sz="1800" dirty="0"/>
          </a:p>
        </p:txBody>
      </p:sp>
      <p:sp>
        <p:nvSpPr>
          <p:cNvPr id="5" name="Text 2"/>
          <p:cNvSpPr/>
          <p:nvPr/>
        </p:nvSpPr>
        <p:spPr>
          <a:xfrm>
            <a:off x="1028700" y="876300"/>
            <a:ext cx="16717518"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3A89B"/>
                </a:solidFill>
                <a:latin typeface="Arial" pitchFamily="34" charset="0"/>
                <a:ea typeface="Arial" pitchFamily="34" charset="-122"/>
                <a:cs typeface="Arial" pitchFamily="34" charset="-120"/>
              </a:rPr>
              <a:t>WHERE THIS GOES</a:t>
            </a:r>
            <a:endParaRPr lang="en-US" sz="1800" dirty="0"/>
          </a:p>
        </p:txBody>
      </p:sp>
      <p:sp>
        <p:nvSpPr>
          <p:cNvPr id="6" name="Text 3"/>
          <p:cNvSpPr/>
          <p:nvPr/>
        </p:nvSpPr>
        <p:spPr>
          <a:xfrm>
            <a:off x="1028700" y="1419225"/>
            <a:ext cx="14716125"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52F37"/>
                </a:solidFill>
                <a:latin typeface="Arial" pitchFamily="34" charset="0"/>
                <a:ea typeface="Arial" pitchFamily="34" charset="-122"/>
                <a:cs typeface="Arial" pitchFamily="34" charset="-120"/>
              </a:rPr>
              <a:t>Today, and what's next.</a:t>
            </a:r>
            <a:endParaRPr lang="en-US" sz="4500" dirty="0"/>
          </a:p>
        </p:txBody>
      </p:sp>
      <p:sp>
        <p:nvSpPr>
          <p:cNvPr id="7" name="Shape 4"/>
          <p:cNvSpPr/>
          <p:nvPr/>
        </p:nvSpPr>
        <p:spPr>
          <a:xfrm>
            <a:off x="1028700" y="2661196"/>
            <a:ext cx="7810500" cy="5425529"/>
          </a:xfrm>
          <a:prstGeom prst="roundRect">
            <a:avLst>
              <a:gd name="adj" fmla="val 2809"/>
            </a:avLst>
          </a:prstGeom>
          <a:solidFill>
            <a:srgbClr val="FFFDF7"/>
          </a:solidFill>
          <a:ln w="9525">
            <a:solidFill>
              <a:srgbClr val="D9D5CB"/>
            </a:solidFill>
            <a:prstDash val="solid"/>
          </a:ln>
        </p:spPr>
      </p:sp>
      <p:sp>
        <p:nvSpPr>
          <p:cNvPr id="8" name="Text 5"/>
          <p:cNvSpPr/>
          <p:nvPr/>
        </p:nvSpPr>
        <p:spPr>
          <a:xfrm>
            <a:off x="1495425" y="3089821"/>
            <a:ext cx="708336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3A89B"/>
                </a:solidFill>
                <a:latin typeface="Courier New" pitchFamily="34" charset="0"/>
                <a:ea typeface="Courier New" pitchFamily="34" charset="-122"/>
                <a:cs typeface="Courier New" pitchFamily="34" charset="-120"/>
              </a:rPr>
              <a:t>TODAY</a:t>
            </a:r>
            <a:endParaRPr lang="en-US" sz="1800" dirty="0"/>
          </a:p>
        </p:txBody>
      </p:sp>
      <p:sp>
        <p:nvSpPr>
          <p:cNvPr id="9" name="Text 6"/>
          <p:cNvSpPr/>
          <p:nvPr/>
        </p:nvSpPr>
        <p:spPr>
          <a:xfrm>
            <a:off x="1495425" y="3556546"/>
            <a:ext cx="7083362" cy="870347"/>
          </a:xfrm>
          <a:prstGeom prst="rect">
            <a:avLst/>
          </a:prstGeom>
          <a:noFill/>
          <a:ln/>
        </p:spPr>
        <p:txBody>
          <a:bodyPr wrap="square" lIns="25400" tIns="25400" rIns="25400" bIns="25400" rtlCol="0" anchor="t">
            <a:normAutofit/>
          </a:bodyPr>
          <a:lstStyle/>
          <a:p>
            <a:pPr algn="l" indent="0" marL="0">
              <a:lnSpc>
                <a:spcPct val="115000"/>
              </a:lnSpc>
              <a:buNone/>
            </a:pPr>
            <a:r>
              <a:rPr lang="en-US" sz="2850" b="1" spc="-6" kern="0" dirty="0">
                <a:solidFill>
                  <a:srgbClr val="152F37"/>
                </a:solidFill>
                <a:latin typeface="Arial" pitchFamily="34" charset="0"/>
                <a:ea typeface="Arial" pitchFamily="34" charset="-122"/>
                <a:cs typeface="Arial" pitchFamily="34" charset="-120"/>
              </a:rPr>
              <a:t>Shipping for the current OBIS harvest config.</a:t>
            </a:r>
            <a:endParaRPr lang="en-US" sz="2850" dirty="0"/>
          </a:p>
        </p:txBody>
      </p:sp>
      <p:sp>
        <p:nvSpPr>
          <p:cNvPr id="10" name="Text 7"/>
          <p:cNvSpPr/>
          <p:nvPr/>
        </p:nvSpPr>
        <p:spPr>
          <a:xfrm>
            <a:off x="1322070" y="4617393"/>
            <a:ext cx="7126605" cy="2060972"/>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Maritimes Spring RV Surveys.</a:t>
            </a:r>
            <a:endParaRPr lang="en-US" sz="1950" dirty="0"/>
          </a:p>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OBIS-Canada core datasets.</a:t>
            </a:r>
            <a:endParaRPr lang="en-US" sz="1950" dirty="0"/>
          </a:p>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OTN biotelemetry.</a:t>
            </a:r>
            <a:endParaRPr lang="en-US" sz="1950" dirty="0"/>
          </a:p>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Starter set from EurOBIS.</a:t>
            </a:r>
            <a:endParaRPr lang="en-US" sz="1950" dirty="0"/>
          </a:p>
        </p:txBody>
      </p:sp>
      <p:sp>
        <p:nvSpPr>
          <p:cNvPr id="11" name="Shape 8"/>
          <p:cNvSpPr/>
          <p:nvPr/>
        </p:nvSpPr>
        <p:spPr>
          <a:xfrm>
            <a:off x="9448800" y="2661196"/>
            <a:ext cx="7810500" cy="5425529"/>
          </a:xfrm>
          <a:prstGeom prst="roundRect">
            <a:avLst>
              <a:gd name="adj" fmla="val 2809"/>
            </a:avLst>
          </a:prstGeom>
          <a:solidFill>
            <a:srgbClr val="FFFDF7"/>
          </a:solidFill>
          <a:ln w="9525">
            <a:solidFill>
              <a:srgbClr val="D9D5CB"/>
            </a:solidFill>
            <a:prstDash val="solid"/>
          </a:ln>
        </p:spPr>
      </p:sp>
      <p:sp>
        <p:nvSpPr>
          <p:cNvPr id="12" name="Text 9"/>
          <p:cNvSpPr/>
          <p:nvPr/>
        </p:nvSpPr>
        <p:spPr>
          <a:xfrm>
            <a:off x="9915525" y="3089821"/>
            <a:ext cx="708336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3A89B"/>
                </a:solidFill>
                <a:latin typeface="Courier New" pitchFamily="34" charset="0"/>
                <a:ea typeface="Courier New" pitchFamily="34" charset="-122"/>
                <a:cs typeface="Courier New" pitchFamily="34" charset="-120"/>
              </a:rPr>
              <a:t>NEXT</a:t>
            </a:r>
            <a:endParaRPr lang="en-US" sz="1800" dirty="0"/>
          </a:p>
        </p:txBody>
      </p:sp>
      <p:sp>
        <p:nvSpPr>
          <p:cNvPr id="13" name="Text 10"/>
          <p:cNvSpPr/>
          <p:nvPr/>
        </p:nvSpPr>
        <p:spPr>
          <a:xfrm>
            <a:off x="9915525" y="3556546"/>
            <a:ext cx="7083362" cy="454223"/>
          </a:xfrm>
          <a:prstGeom prst="rect">
            <a:avLst/>
          </a:prstGeom>
          <a:noFill/>
          <a:ln/>
        </p:spPr>
        <p:txBody>
          <a:bodyPr wrap="square" lIns="25400" tIns="25400" rIns="25400" bIns="25400" rtlCol="0" anchor="t">
            <a:normAutofit/>
          </a:bodyPr>
          <a:lstStyle/>
          <a:p>
            <a:pPr algn="l" indent="0" marL="0">
              <a:lnSpc>
                <a:spcPct val="115000"/>
              </a:lnSpc>
              <a:buNone/>
            </a:pPr>
            <a:r>
              <a:rPr lang="en-US" sz="2850" b="1" spc="-6" kern="0" dirty="0">
                <a:solidFill>
                  <a:srgbClr val="152F37"/>
                </a:solidFill>
                <a:latin typeface="Arial" pitchFamily="34" charset="0"/>
                <a:ea typeface="Arial" pitchFamily="34" charset="-122"/>
                <a:cs typeface="Arial" pitchFamily="34" charset="-120"/>
              </a:rPr>
              <a:t>Expand the list, keep CKAN fresh.</a:t>
            </a:r>
            <a:endParaRPr lang="en-US" sz="2850" dirty="0"/>
          </a:p>
        </p:txBody>
      </p:sp>
      <p:sp>
        <p:nvSpPr>
          <p:cNvPr id="14" name="Text 11"/>
          <p:cNvSpPr/>
          <p:nvPr/>
        </p:nvSpPr>
        <p:spPr>
          <a:xfrm>
            <a:off x="9742170" y="4201269"/>
            <a:ext cx="7126605" cy="1498104"/>
          </a:xfrm>
          <a:prstGeom prst="rect">
            <a:avLst/>
          </a:prstGeom>
          <a:noFill/>
          <a:ln/>
        </p:spPr>
        <p:txBody>
          <a:bodyPr wrap="square" lIns="25400" tIns="25400" rIns="25400" bIns="25400" rtlCol="0" anchor="t">
            <a:normAutofit/>
          </a:bodyPr>
          <a:lstStyle/>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Bulk-update job for CKAN records.</a:t>
            </a:r>
            <a:endParaRPr lang="en-US" sz="1950" dirty="0"/>
          </a:p>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OBIS-API change-detection → re-harvest.</a:t>
            </a:r>
            <a:endParaRPr lang="en-US" sz="1950" dirty="0"/>
          </a:p>
          <a:p>
            <a:pPr algn="l" indent="0" marL="0">
              <a:lnSpc>
                <a:spcPct val="135000"/>
              </a:lnSpc>
              <a:buNone/>
            </a:pPr>
            <a:r>
              <a:rPr lang="en-US" sz="1950" spc="-6" kern="0" dirty="0">
                <a:solidFill>
                  <a:srgbClr val="152F37"/>
                </a:solidFill>
                <a:latin typeface="Arial" pitchFamily="34" charset="0"/>
                <a:ea typeface="Arial" pitchFamily="34" charset="-122"/>
                <a:cs typeface="Arial" pitchFamily="34" charset="-120"/>
              </a:rPr>
              <a:t>Curator-side review queue for new EOV mappings.</a:t>
            </a:r>
            <a:endParaRPr lang="en-US" sz="1950" dirty="0"/>
          </a:p>
        </p:txBody>
      </p:sp>
      <p:sp>
        <p:nvSpPr>
          <p:cNvPr id="15" name="Shape 12"/>
          <p:cNvSpPr/>
          <p:nvPr/>
        </p:nvSpPr>
        <p:spPr>
          <a:xfrm>
            <a:off x="1028700" y="8315325"/>
            <a:ext cx="16230600" cy="1019175"/>
          </a:xfrm>
          <a:prstGeom prst="roundRect">
            <a:avLst>
              <a:gd name="adj" fmla="val 13084"/>
            </a:avLst>
          </a:prstGeom>
          <a:solidFill>
            <a:srgbClr val="152F37"/>
          </a:solidFill>
          <a:ln/>
        </p:spPr>
      </p:sp>
      <p:sp>
        <p:nvSpPr>
          <p:cNvPr id="16" name="Text 13"/>
          <p:cNvSpPr/>
          <p:nvPr/>
        </p:nvSpPr>
        <p:spPr>
          <a:xfrm>
            <a:off x="1371600" y="8643938"/>
            <a:ext cx="8478021" cy="400050"/>
          </a:xfrm>
          <a:prstGeom prst="rect">
            <a:avLst/>
          </a:prstGeom>
          <a:noFill/>
          <a:ln/>
        </p:spPr>
        <p:txBody>
          <a:bodyPr wrap="square" lIns="25400" tIns="25400" rIns="25400" bIns="25400" rtlCol="0" anchor="t">
            <a:normAutofit/>
          </a:bodyPr>
          <a:lstStyle/>
          <a:p>
            <a:pPr algn="l" indent="0" marL="0">
              <a:buNone/>
            </a:pPr>
            <a:r>
              <a:rPr lang="en-US" sz="1650" spc="-6" kern="0" dirty="0">
                <a:solidFill>
                  <a:srgbClr val="C6E3DF"/>
                </a:solidFill>
                <a:latin typeface="Courier New" pitchFamily="34" charset="0"/>
                <a:ea typeface="Courier New" pitchFamily="34" charset="-122"/>
                <a:cs typeface="Courier New" pitchFamily="34" charset="-120"/>
              </a:rPr>
              <a:t>Next </a:t>
            </a:r>
            <a:pPr algn="l" indent="0" marL="0">
              <a:buNone/>
            </a:pPr>
            <a:r>
              <a:rPr lang="en-US" sz="2250" spc="-6" kern="0" dirty="0">
                <a:solidFill>
                  <a:srgbClr val="FFFFFF"/>
                </a:solidFill>
                <a:latin typeface="Arial" pitchFamily="34" charset="0"/>
                <a:ea typeface="Arial" pitchFamily="34" charset="-122"/>
                <a:cs typeface="Arial" pitchFamily="34" charset="-120"/>
              </a:rPr>
              <a:t>4 notebooks · 4 OBIS retrieval routes · same dataset</a:t>
            </a:r>
            <a:endParaRPr lang="en-US" sz="2250" dirty="0"/>
          </a:p>
        </p:txBody>
      </p:sp>
      <p:sp>
        <p:nvSpPr>
          <p:cNvPr id="17" name="Shape 14"/>
          <p:cNvSpPr/>
          <p:nvPr/>
        </p:nvSpPr>
        <p:spPr>
          <a:xfrm>
            <a:off x="11327755" y="8582025"/>
            <a:ext cx="5588645" cy="485775"/>
          </a:xfrm>
          <a:prstGeom prst="roundRect">
            <a:avLst>
              <a:gd name="adj" fmla="val 11765"/>
            </a:avLst>
          </a:prstGeom>
          <a:solidFill>
            <a:srgbClr val="FFFFFF">
              <a:alpha val="8000"/>
            </a:srgbClr>
          </a:solidFill>
          <a:ln/>
        </p:spPr>
      </p:sp>
      <p:sp>
        <p:nvSpPr>
          <p:cNvPr id="18" name="Text 15"/>
          <p:cNvSpPr/>
          <p:nvPr/>
        </p:nvSpPr>
        <p:spPr>
          <a:xfrm>
            <a:off x="11461105" y="8658225"/>
            <a:ext cx="5489604" cy="371475"/>
          </a:xfrm>
          <a:prstGeom prst="rect">
            <a:avLst/>
          </a:prstGeom>
          <a:noFill/>
          <a:ln/>
        </p:spPr>
        <p:txBody>
          <a:bodyPr wrap="square" lIns="25400" tIns="25400" rIns="25400" bIns="25400" rtlCol="0" anchor="t">
            <a:normAutofit/>
          </a:bodyPr>
          <a:lstStyle/>
          <a:p>
            <a:pPr algn="l" indent="0" marL="0">
              <a:buNone/>
            </a:pPr>
            <a:r>
              <a:rPr lang="en-US" sz="1950" spc="-6" kern="0" dirty="0">
                <a:solidFill>
                  <a:srgbClr val="C6E3DF"/>
                </a:solidFill>
                <a:latin typeface="Courier New" pitchFamily="34" charset="0"/>
                <a:ea typeface="Courier New" pitchFamily="34" charset="-122"/>
                <a:cs typeface="Courier New" pitchFamily="34" charset="-120"/>
              </a:rPr>
              <a:t>notebooks/01_pyobis_quickstart.ipynb</a:t>
            </a:r>
            <a:endParaRPr lang="en-US" sz="1950" dirty="0"/>
          </a:p>
        </p:txBody>
      </p:sp>
      <p:sp>
        <p:nvSpPr>
          <p:cNvPr id="19" name="Text 16"/>
          <p:cNvSpPr/>
          <p:nvPr/>
        </p:nvSpPr>
        <p:spPr>
          <a:xfrm>
            <a:off x="1028700" y="9648825"/>
            <a:ext cx="418183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STATUS &amp; NEXT · 15 OF 16</a:t>
            </a:r>
            <a:endParaRPr lang="en-US" sz="1800" dirty="0"/>
          </a:p>
        </p:txBody>
      </p:sp>
      <p:sp>
        <p:nvSpPr>
          <p:cNvPr id="20" name="Text 17"/>
          <p:cNvSpPr/>
          <p:nvPr/>
        </p:nvSpPr>
        <p:spPr>
          <a:xfrm>
            <a:off x="15228838" y="9648825"/>
            <a:ext cx="210666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B6B6E"/>
                </a:solidFill>
                <a:latin typeface="Courier New" pitchFamily="34" charset="0"/>
                <a:ea typeface="Courier New" pitchFamily="34" charset="-122"/>
                <a:cs typeface="Courier New" pitchFamily="34" charset="-120"/>
              </a:rPr>
              <a:t>OBIS → CIOOS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F37"/>
        </a:solidFill>
      </p:bgPr>
    </p:bg>
    <p:spTree>
      <p:nvGrpSpPr>
        <p:cNvPr id="1" name=""/>
        <p:cNvGrpSpPr/>
        <p:nvPr/>
      </p:nvGrpSpPr>
      <p:grpSpPr>
        <a:xfrm>
          <a:off x="0" y="0"/>
          <a:ext cx="0" cy="0"/>
          <a:chOff x="0" y="0"/>
          <a:chExt cx="0" cy="0"/>
        </a:xfrm>
      </p:grpSpPr>
      <p:sp>
        <p:nvSpPr>
          <p:cNvPr id="2" name="Shape 0"/>
          <p:cNvSpPr/>
          <p:nvPr/>
        </p:nvSpPr>
        <p:spPr>
          <a:xfrm>
            <a:off x="0" y="0"/>
            <a:ext cx="133350" cy="10287000"/>
          </a:xfrm>
          <a:prstGeom prst="rect">
            <a:avLst/>
          </a:prstGeom>
          <a:solidFill>
            <a:srgbClr val="C6E3DF"/>
          </a:solidFill>
          <a:ln/>
        </p:spPr>
      </p:sp>
      <p:sp>
        <p:nvSpPr>
          <p:cNvPr id="3" name="Text 1"/>
          <p:cNvSpPr/>
          <p:nvPr/>
        </p:nvSpPr>
        <p:spPr>
          <a:xfrm>
            <a:off x="1028700" y="1047750"/>
            <a:ext cx="16717518" cy="314325"/>
          </a:xfrm>
          <a:prstGeom prst="rect">
            <a:avLst/>
          </a:prstGeom>
          <a:noFill/>
          <a:ln/>
        </p:spPr>
        <p:txBody>
          <a:bodyPr wrap="square" lIns="25400" tIns="25400" rIns="25400" bIns="25400" rtlCol="0" anchor="t">
            <a:normAutofit/>
          </a:bodyPr>
          <a:lstStyle/>
          <a:p>
            <a:pPr algn="l" indent="0" marL="0">
              <a:buNone/>
            </a:pPr>
            <a:r>
              <a:rPr lang="en-US" sz="1650" spc="363" kern="0" dirty="0">
                <a:solidFill>
                  <a:srgbClr val="C6E3DF"/>
                </a:solidFill>
                <a:latin typeface="Courier New" pitchFamily="34" charset="0"/>
                <a:ea typeface="Courier New" pitchFamily="34" charset="-122"/>
                <a:cs typeface="Courier New" pitchFamily="34" charset="-120"/>
              </a:rPr>
              <a:t>THANK YOU</a:t>
            </a:r>
            <a:endParaRPr lang="en-US" sz="1650" dirty="0"/>
          </a:p>
        </p:txBody>
      </p:sp>
      <p:sp>
        <p:nvSpPr>
          <p:cNvPr id="4" name="Text 2"/>
          <p:cNvSpPr/>
          <p:nvPr/>
        </p:nvSpPr>
        <p:spPr>
          <a:xfrm>
            <a:off x="1028700" y="1590675"/>
            <a:ext cx="16717518" cy="2705100"/>
          </a:xfrm>
          <a:prstGeom prst="rect">
            <a:avLst/>
          </a:prstGeom>
          <a:noFill/>
          <a:ln/>
        </p:spPr>
        <p:txBody>
          <a:bodyPr wrap="square" lIns="25400" tIns="25400" rIns="25400" bIns="25400" rtlCol="0" anchor="t">
            <a:normAutofit/>
          </a:bodyPr>
          <a:lstStyle/>
          <a:p>
            <a:pPr algn="l" indent="0" marL="0">
              <a:lnSpc>
                <a:spcPct val="100000"/>
              </a:lnSpc>
              <a:buNone/>
            </a:pPr>
            <a:r>
              <a:rPr lang="en-US" sz="10500" b="1" spc="-315" kern="0" dirty="0">
                <a:solidFill>
                  <a:srgbClr val="FFFFFF"/>
                </a:solidFill>
                <a:latin typeface="Arial" pitchFamily="34" charset="0"/>
                <a:ea typeface="Arial" pitchFamily="34" charset="-122"/>
                <a:cs typeface="Arial" pitchFamily="34" charset="-120"/>
              </a:rPr>
              <a:t>Questions &amp; then notebooks.</a:t>
            </a:r>
            <a:endParaRPr lang="en-US" sz="10500" dirty="0"/>
          </a:p>
        </p:txBody>
      </p:sp>
      <p:sp>
        <p:nvSpPr>
          <p:cNvPr id="5" name="Text 3"/>
          <p:cNvSpPr/>
          <p:nvPr/>
        </p:nvSpPr>
        <p:spPr>
          <a:xfrm>
            <a:off x="1028700" y="4638675"/>
            <a:ext cx="12753975" cy="1015305"/>
          </a:xfrm>
          <a:prstGeom prst="rect">
            <a:avLst/>
          </a:prstGeom>
          <a:noFill/>
          <a:ln/>
        </p:spPr>
        <p:txBody>
          <a:bodyPr wrap="square" lIns="25400" tIns="25400" rIns="25400" bIns="25400" rtlCol="0" anchor="t">
            <a:normAutofit/>
          </a:bodyPr>
          <a:lstStyle/>
          <a:p>
            <a:pPr algn="l" indent="0" marL="0">
              <a:lnSpc>
                <a:spcPct val="135000"/>
              </a:lnSpc>
              <a:buNone/>
            </a:pPr>
            <a:r>
              <a:rPr lang="en-US" sz="2850" spc="-6" kern="0" dirty="0">
                <a:solidFill>
                  <a:srgbClr val="FFFFFF">
                    <a:alpha val="78000"/>
                  </a:srgbClr>
                </a:solidFill>
                <a:latin typeface="Arial" pitchFamily="34" charset="0"/>
                <a:ea typeface="Arial" pitchFamily="34" charset="-122"/>
                <a:cs typeface="Arial" pitchFamily="34" charset="-120"/>
              </a:rPr>
              <a:t>Canada's national hub for open, collaborative, and actionable ocean data.</a:t>
            </a:r>
            <a:endParaRPr lang="en-US" sz="2850" dirty="0"/>
          </a:p>
        </p:txBody>
      </p:sp>
      <p:sp>
        <p:nvSpPr>
          <p:cNvPr id="6" name="Text 4"/>
          <p:cNvSpPr/>
          <p:nvPr/>
        </p:nvSpPr>
        <p:spPr>
          <a:xfrm>
            <a:off x="1028700" y="6187380"/>
            <a:ext cx="2201168" cy="371475"/>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FFFFF">
                    <a:alpha val="85000"/>
                  </a:srgbClr>
                </a:solidFill>
                <a:latin typeface="Courier New" pitchFamily="34" charset="0"/>
                <a:ea typeface="Courier New" pitchFamily="34" charset="-122"/>
                <a:cs typeface="Courier New" pitchFamily="34" charset="-120"/>
              </a:rPr>
              <a:t>Richard Kelly</a:t>
            </a:r>
            <a:endParaRPr lang="en-US" sz="1950" dirty="0"/>
          </a:p>
        </p:txBody>
      </p:sp>
      <p:sp>
        <p:nvSpPr>
          <p:cNvPr id="7" name="Text 5"/>
          <p:cNvSpPr/>
          <p:nvPr/>
        </p:nvSpPr>
        <p:spPr>
          <a:xfrm>
            <a:off x="3610868" y="6187380"/>
            <a:ext cx="239762" cy="371475"/>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C6E3DF"/>
                </a:solidFill>
                <a:latin typeface="Courier New" pitchFamily="34" charset="0"/>
                <a:ea typeface="Courier New" pitchFamily="34" charset="-122"/>
                <a:cs typeface="Courier New" pitchFamily="34" charset="-120"/>
              </a:rPr>
              <a:t>·</a:t>
            </a:r>
            <a:endParaRPr lang="en-US" sz="1950" dirty="0"/>
          </a:p>
        </p:txBody>
      </p:sp>
      <p:sp>
        <p:nvSpPr>
          <p:cNvPr id="8" name="Text 6"/>
          <p:cNvSpPr/>
          <p:nvPr/>
        </p:nvSpPr>
        <p:spPr>
          <a:xfrm>
            <a:off x="4231630" y="6187380"/>
            <a:ext cx="3703865" cy="371475"/>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FFFFF">
                    <a:alpha val="85000"/>
                  </a:srgbClr>
                </a:solidFill>
                <a:latin typeface="Courier New" pitchFamily="34" charset="0"/>
                <a:ea typeface="Courier New" pitchFamily="34" charset="-122"/>
                <a:cs typeface="Courier New" pitchFamily="34" charset="-120"/>
              </a:rPr>
              <a:t>richard.kelly@cioos.ca</a:t>
            </a:r>
            <a:endParaRPr lang="en-US" sz="1950" dirty="0"/>
          </a:p>
        </p:txBody>
      </p:sp>
      <p:sp>
        <p:nvSpPr>
          <p:cNvPr id="9" name="Text 7"/>
          <p:cNvSpPr/>
          <p:nvPr/>
        </p:nvSpPr>
        <p:spPr>
          <a:xfrm>
            <a:off x="8284815" y="6187380"/>
            <a:ext cx="239762" cy="371475"/>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C6E3DF"/>
                </a:solidFill>
                <a:latin typeface="Courier New" pitchFamily="34" charset="0"/>
                <a:ea typeface="Courier New" pitchFamily="34" charset="-122"/>
                <a:cs typeface="Courier New" pitchFamily="34" charset="-120"/>
              </a:rPr>
              <a:t>·</a:t>
            </a:r>
            <a:endParaRPr lang="en-US" sz="1950" dirty="0"/>
          </a:p>
        </p:txBody>
      </p:sp>
      <p:sp>
        <p:nvSpPr>
          <p:cNvPr id="10" name="Text 8"/>
          <p:cNvSpPr/>
          <p:nvPr/>
        </p:nvSpPr>
        <p:spPr>
          <a:xfrm>
            <a:off x="8905577" y="6187380"/>
            <a:ext cx="1383804" cy="371475"/>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FFFFF">
                    <a:alpha val="85000"/>
                  </a:srgbClr>
                </a:solidFill>
                <a:latin typeface="Courier New" pitchFamily="34" charset="0"/>
                <a:ea typeface="Courier New" pitchFamily="34" charset="-122"/>
                <a:cs typeface="Courier New" pitchFamily="34" charset="-120"/>
              </a:rPr>
              <a:t>cioos.ca</a:t>
            </a:r>
            <a:endParaRPr lang="en-US" sz="1950" dirty="0"/>
          </a:p>
        </p:txBody>
      </p:sp>
      <p:sp>
        <p:nvSpPr>
          <p:cNvPr id="11" name="Text 9"/>
          <p:cNvSpPr/>
          <p:nvPr/>
        </p:nvSpPr>
        <p:spPr>
          <a:xfrm>
            <a:off x="1028700" y="9458325"/>
            <a:ext cx="3671980" cy="247650"/>
          </a:xfrm>
          <a:prstGeom prst="rect">
            <a:avLst/>
          </a:prstGeom>
          <a:noFill/>
          <a:ln/>
        </p:spPr>
        <p:txBody>
          <a:bodyPr wrap="square" lIns="25400" tIns="25400" rIns="25400" bIns="25400" rtlCol="0" anchor="t">
            <a:normAutofit/>
          </a:bodyPr>
          <a:lstStyle/>
          <a:p>
            <a:pPr algn="l" indent="0" marL="0">
              <a:buNone/>
            </a:pPr>
            <a:r>
              <a:rPr lang="en-US" sz="1350" spc="297" kern="0" dirty="0">
                <a:solidFill>
                  <a:srgbClr val="FFFFFF">
                    <a:alpha val="45000"/>
                  </a:srgbClr>
                </a:solidFill>
                <a:latin typeface="Arial" pitchFamily="34" charset="0"/>
                <a:ea typeface="Arial" pitchFamily="34" charset="-122"/>
                <a:cs typeface="Arial" pitchFamily="34" charset="-120"/>
              </a:rPr>
              <a:t>MAJOR FINANCIAL PARTNERS</a:t>
            </a:r>
            <a:endParaRPr lang="en-US" sz="1350" dirty="0"/>
          </a:p>
        </p:txBody>
      </p:sp>
      <p:pic>
        <p:nvPicPr>
          <p:cNvPr id="12" name="Image 0" descr="preencoded.png">    </p:cNvPr>
          <p:cNvPicPr>
            <a:picLocks noChangeAspect="1"/>
          </p:cNvPicPr>
          <p:nvPr/>
        </p:nvPicPr>
        <p:blipFill>
          <a:blip r:embed="rId1"/>
          <a:stretch>
            <a:fillRect/>
          </a:stretch>
        </p:blipFill>
        <p:spPr>
          <a:xfrm>
            <a:off x="4993779" y="9296400"/>
            <a:ext cx="6392317" cy="533400"/>
          </a:xfrm>
          <a:prstGeom prst="rect">
            <a:avLst/>
          </a:prstGeom>
        </p:spPr>
      </p:pic>
      <p:pic>
        <p:nvPicPr>
          <p:cNvPr id="13" name="Image 1" descr="preencoded.png">    </p:cNvPr>
          <p:cNvPicPr>
            <a:picLocks noChangeAspect="1"/>
          </p:cNvPicPr>
          <p:nvPr/>
        </p:nvPicPr>
        <p:blipFill>
          <a:blip r:embed="rId2"/>
          <a:stretch>
            <a:fillRect/>
          </a:stretch>
        </p:blipFill>
        <p:spPr>
          <a:xfrm>
            <a:off x="11786146" y="9296400"/>
            <a:ext cx="643533" cy="533400"/>
          </a:xfrm>
          <a:prstGeom prst="rect">
            <a:avLst/>
          </a:prstGeom>
        </p:spPr>
      </p:pic>
      <p:sp>
        <p:nvSpPr>
          <p:cNvPr id="14" name="Text 10"/>
          <p:cNvSpPr/>
          <p:nvPr/>
        </p:nvSpPr>
        <p:spPr>
          <a:xfrm>
            <a:off x="12760375" y="9420225"/>
            <a:ext cx="4633893"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FFFFFF">
                    <a:alpha val="50000"/>
                  </a:srgbClr>
                </a:solidFill>
                <a:latin typeface="Courier New" pitchFamily="34" charset="0"/>
                <a:ea typeface="Courier New" pitchFamily="34" charset="-122"/>
                <a:cs typeface="Courier New" pitchFamily="34" charset="-120"/>
              </a:rPr>
              <a:t>CIOOS · OBIS TALK · 2026</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2026-05-15T12:33:33Z</dcterms:created>
  <dcterms:modified xsi:type="dcterms:W3CDTF">2026-05-15T12:33:33Z</dcterms:modified>
</cp:coreProperties>
</file>